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068f5acc9b426b" /><Relationship Type="http://schemas.openxmlformats.org/officeDocument/2006/relationships/extended-properties" Target="/docProps/app.xml" Id="R974f89050b0d4736" /><Relationship Type="http://schemas.openxmlformats.org/officeDocument/2006/relationships/officeDocument" Target="/ppt/presentation.xml" Id="R2dd6f3b76c784c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f0c10e8d1b4f0d"/>
  </p:sldMasterIdLst>
  <p:notesMasterIdLst>
    <p:notesMasterId xmlns:r="http://schemas.openxmlformats.org/officeDocument/2006/relationships" r:id="Ra585adcbe0b34156"/>
  </p:notesMasterIdLst>
  <p:sldIdLst>
    <p:sldId xmlns:r="http://schemas.openxmlformats.org/officeDocument/2006/relationships" id="256" r:id="R930476d007a04c31"/>
    <p:sldId xmlns:r="http://schemas.openxmlformats.org/officeDocument/2006/relationships" id="257" r:id="R05cef91567634848"/>
    <p:sldId xmlns:r="http://schemas.openxmlformats.org/officeDocument/2006/relationships" id="258" r:id="R404f2bf4afd0404e"/>
    <p:sldId xmlns:r="http://schemas.openxmlformats.org/officeDocument/2006/relationships" id="259" r:id="Re91093d01bfb4f26"/>
    <p:sldId xmlns:r="http://schemas.openxmlformats.org/officeDocument/2006/relationships" id="260" r:id="R79a1383bb61f4a59"/>
    <p:sldId xmlns:r="http://schemas.openxmlformats.org/officeDocument/2006/relationships" id="261" r:id="Rda38992a257e44c1"/>
    <p:sldId xmlns:r="http://schemas.openxmlformats.org/officeDocument/2006/relationships" id="262" r:id="Rb801bda0cdd942bd"/>
    <p:sldId xmlns:r="http://schemas.openxmlformats.org/officeDocument/2006/relationships" id="263" r:id="R2762e9d9c025401b"/>
    <p:sldId xmlns:r="http://schemas.openxmlformats.org/officeDocument/2006/relationships" id="264" r:id="R8bcedcffd5a8459c"/>
    <p:sldId xmlns:r="http://schemas.openxmlformats.org/officeDocument/2006/relationships" id="265" r:id="R62a361ee29ea4e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5c900c0d6f4acf" /><Relationship Type="http://schemas.openxmlformats.org/officeDocument/2006/relationships/slideMaster" Target="/ppt/slideMasters/slideMaster1.xml" Id="R1df0c10e8d1b4f0d" /><Relationship Type="http://schemas.openxmlformats.org/officeDocument/2006/relationships/notesMaster" Target="/ppt/notesMasters/notesMaster1.xml" Id="Ra585adcbe0b34156" /><Relationship Type="http://schemas.openxmlformats.org/officeDocument/2006/relationships/presProps" Target="/ppt/presProps.xml" Id="R5aae2487723c48f6" /><Relationship Type="http://schemas.openxmlformats.org/officeDocument/2006/relationships/viewProps" Target="/ppt/viewProps.xml" Id="Ra37641d3d1d8425f" /><Relationship Type="http://schemas.openxmlformats.org/officeDocument/2006/relationships/tableStyles" Target="/ppt/tableStyles.xml" Id="Rb96c05fc51914384" /><Relationship Type="http://schemas.openxmlformats.org/officeDocument/2006/relationships/slide" Target="/ppt/slides/slide1.xml" Id="R930476d007a04c31" /><Relationship Type="http://schemas.openxmlformats.org/officeDocument/2006/relationships/slide" Target="/ppt/slides/slide2.xml" Id="R05cef91567634848" /><Relationship Type="http://schemas.openxmlformats.org/officeDocument/2006/relationships/slide" Target="/ppt/slides/slide3.xml" Id="R404f2bf4afd0404e" /><Relationship Type="http://schemas.openxmlformats.org/officeDocument/2006/relationships/slide" Target="/ppt/slides/slide4.xml" Id="Re91093d01bfb4f26" /><Relationship Type="http://schemas.openxmlformats.org/officeDocument/2006/relationships/slide" Target="/ppt/slides/slide5.xml" Id="R79a1383bb61f4a59" /><Relationship Type="http://schemas.openxmlformats.org/officeDocument/2006/relationships/slide" Target="/ppt/slides/slide6.xml" Id="Rda38992a257e44c1" /><Relationship Type="http://schemas.openxmlformats.org/officeDocument/2006/relationships/slide" Target="/ppt/slides/slide7.xml" Id="Rb801bda0cdd942bd" /><Relationship Type="http://schemas.openxmlformats.org/officeDocument/2006/relationships/slide" Target="/ppt/slides/slide8.xml" Id="R2762e9d9c025401b" /><Relationship Type="http://schemas.openxmlformats.org/officeDocument/2006/relationships/slide" Target="/ppt/slides/slide9.xml" Id="R8bcedcffd5a8459c" /><Relationship Type="http://schemas.openxmlformats.org/officeDocument/2006/relationships/slide" Target="/ppt/slides/slide10.xml" Id="R62a361ee29ea4e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f071615d7646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beb85259224d85" /><Relationship Type="http://schemas.openxmlformats.org/officeDocument/2006/relationships/notesMaster" Target="/ppt/notesMasters/notesMaster1.xml" Id="R139070bcf0414d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51b31a9e4b4c08" /><Relationship Type="http://schemas.openxmlformats.org/officeDocument/2006/relationships/notesMaster" Target="/ppt/notesMasters/notesMaster1.xml" Id="R6238f9db19514d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29a19d20ab4847" /><Relationship Type="http://schemas.openxmlformats.org/officeDocument/2006/relationships/notesMaster" Target="/ppt/notesMasters/notesMaster1.xml" Id="R7092251e8c714b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0f1e7ee1234f7f" /><Relationship Type="http://schemas.openxmlformats.org/officeDocument/2006/relationships/notesMaster" Target="/ppt/notesMasters/notesMaster1.xml" Id="Rbf655303f99b46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60b3f0bca740f5" /><Relationship Type="http://schemas.openxmlformats.org/officeDocument/2006/relationships/notesMaster" Target="/ppt/notesMasters/notesMaster1.xml" Id="R84a1b3e22e6f43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07128857924674" /><Relationship Type="http://schemas.openxmlformats.org/officeDocument/2006/relationships/notesMaster" Target="/ppt/notesMasters/notesMaster1.xml" Id="Rf7604739d34041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894898958849a5" /><Relationship Type="http://schemas.openxmlformats.org/officeDocument/2006/relationships/notesMaster" Target="/ppt/notesMasters/notesMaster1.xml" Id="Rb5ffbbef1d0c4c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71ce3932234abd" /><Relationship Type="http://schemas.openxmlformats.org/officeDocument/2006/relationships/notesMaster" Target="/ppt/notesMasters/notesMaster1.xml" Id="R8fa54834aa6748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b82ababcc541d9" /><Relationship Type="http://schemas.openxmlformats.org/officeDocument/2006/relationships/notesMaster" Target="/ppt/notesMasters/notesMaster1.xml" Id="Rce9cdaec3e5440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18cfe2fb9d44ea" /><Relationship Type="http://schemas.openxmlformats.org/officeDocument/2006/relationships/notesMaster" Target="/ppt/notesMasters/notesMaster1.xml" Id="R3e83f66a078145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b858443ac746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02db6f7d7274552" /><Relationship Type="http://schemas.openxmlformats.org/officeDocument/2006/relationships/slideLayout" Target="/ppt/slideLayouts/slideLayout1.xml" Id="R3b52f93543194f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52f93543194f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d95bfef434093" /><Relationship Type="http://schemas.openxmlformats.org/officeDocument/2006/relationships/notesSlide" Target="/ppt/notesSlides/notesSlide1.xml" Id="R53e943b1f9e944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ba527ae334e9e" /><Relationship Type="http://schemas.openxmlformats.org/officeDocument/2006/relationships/notesSlide" Target="/ppt/notesSlides/notesSlide2.xml" Id="R9827d690b1a54c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2015c508c4f5e" /><Relationship Type="http://schemas.openxmlformats.org/officeDocument/2006/relationships/notesSlide" Target="/ppt/notesSlides/notesSlide3.xml" Id="Rc2e64a302f9648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8eb96696540a9" /><Relationship Type="http://schemas.openxmlformats.org/officeDocument/2006/relationships/notesSlide" Target="/ppt/notesSlides/notesSlide4.xml" Id="Radbbfe91aa924e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d2a9736e9f4591" /><Relationship Type="http://schemas.openxmlformats.org/officeDocument/2006/relationships/notesSlide" Target="/ppt/notesSlides/notesSlide5.xml" Id="Rdfc578eafa684a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43290904845d6" /><Relationship Type="http://schemas.openxmlformats.org/officeDocument/2006/relationships/notesSlide" Target="/ppt/notesSlides/notesSlide6.xml" Id="R078c88247cbc4e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86656fbed4ef8" /><Relationship Type="http://schemas.openxmlformats.org/officeDocument/2006/relationships/notesSlide" Target="/ppt/notesSlides/notesSlide7.xml" Id="Rde63261cd46f40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f0a4bc375481b" /><Relationship Type="http://schemas.openxmlformats.org/officeDocument/2006/relationships/notesSlide" Target="/ppt/notesSlides/notesSlide8.xml" Id="R960eab5bbc6b40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c49ef73b74e79" /><Relationship Type="http://schemas.openxmlformats.org/officeDocument/2006/relationships/notesSlide" Target="/ppt/notesSlides/notesSlide9.xml" Id="Rd22c8f77f22647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6c498c03649f1" /><Relationship Type="http://schemas.openxmlformats.org/officeDocument/2006/relationships/notesSlide" Target="/ppt/notesSlides/notesSlide10.xml" Id="R6e1bff517fc043c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6FF778-5285-4225-B2C2-C6A0428B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ED35C-F34C-4101-8F7A-22E49E7E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C3798-CA7B-442C-9995-C8218A43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32246-B4D4-4AC4-B4D1-E3925AD3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"/>
            <a:ext cx="619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EC5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EC5FF"/>
                </a:solidFill>
                <a:latin typeface="Aptos"/>
                <a:ea typeface="Aptos"/>
                <a:cs typeface="Aptos"/>
              </a:rPr>
              <a:t>EXECUTIVE BRIEFING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2B397-4EEA-4643-885A-70722F57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23950"/>
            <a:ext cx="7239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大量提交代码时代的质量门禁建设方案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F31AE-D416-4DA8-8846-F1B1DDA5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704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3F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E3F5"/>
                </a:solidFill>
                <a:latin typeface="Aptos"/>
                <a:ea typeface="Aptos"/>
                <a:cs typeface="Aptos"/>
              </a:rPr>
              <a:t>用风险分级、自动化测试与 AI 辅助评审，建立一套让 AI 代码不能带病合并、不能带病上线的工程治理体系。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45C8E-3909-43BA-8004-9BB6490A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67100"/>
            <a:ext cx="1695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0345D"/>
          </a:solidFill>
          <a:ln xmlns:a="http://schemas.openxmlformats.org/drawingml/2006/main" w="9525">
            <a:solidFill>
              <a:srgbClr val="20345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47229-28F2-49E1-8CEE-ABB7F13E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337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统一准入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5897E-D0EC-4ACD-8377-60F90839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467100"/>
            <a:ext cx="1695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0345D"/>
          </a:solidFill>
          <a:ln xmlns:a="http://schemas.openxmlformats.org/drawingml/2006/main" w="9525">
            <a:solidFill>
              <a:srgbClr val="2034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6749A-F2D5-4241-851D-BF9226F1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337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风险分级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672A2-B7D0-4565-BA2B-ED7C75FD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67100"/>
            <a:ext cx="1695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0345D"/>
          </a:solidFill>
          <a:ln xmlns:a="http://schemas.openxmlformats.org/drawingml/2006/main" w="9525">
            <a:solidFill>
              <a:srgbClr val="20345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C1347-6537-4F9E-8534-8AAB48DD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337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自动门禁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E7A52-17F7-4BE7-ADCB-B15BACEB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67100"/>
            <a:ext cx="16954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0345D"/>
          </a:solidFill>
          <a:ln xmlns:a="http://schemas.openxmlformats.org/drawingml/2006/main" w="9525">
            <a:solidFill>
              <a:srgbClr val="20345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863D7B-E039-49B2-B713-AFAFA12B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33775"/>
            <a:ext cx="1466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持续度量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37DD2-D688-435F-A187-904FC121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14400"/>
            <a:ext cx="3028950" cy="39052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9715CE-6EB4-4595-B365-73169984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144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EC5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8EC5FF"/>
                </a:solidFill>
                <a:latin typeface="Aptos Display"/>
                <a:ea typeface="Aptos Display"/>
                <a:cs typeface="Aptos Display"/>
              </a:rPr>
              <a:t>4 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8BF999-0E85-4301-9212-A1D02A16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716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门禁强度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C0E163-82F9-40FE-AD6A-AD583B3A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097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低 / 中 / 高 / 严重风险动态放行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6A3010-978B-4DAB-A34C-ACB91045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EF0D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8EF0D3"/>
                </a:solidFill>
                <a:latin typeface="Aptos Display"/>
                <a:ea typeface="Aptos Display"/>
                <a:cs typeface="Aptos Display"/>
              </a:rPr>
              <a:t>9 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6486EC-099D-492D-89A6-0A2A212B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146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自动证据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7F6EA1-34FF-4F55-8368-ABDF900D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527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测试、扫描、覆盖率、供应链、监控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E343BC-B14C-4CC7-A4A7-1DD1E3EF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238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D08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D08A"/>
                </a:solidFill>
                <a:latin typeface="Aptos Display"/>
                <a:ea typeface="Aptos Display"/>
                <a:cs typeface="Aptos Display"/>
              </a:rPr>
              <a:t>90 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0F38CA-317B-4362-B899-7B322D8D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576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落地周期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2F5E99-A2C5-4363-8400-15D76BBE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95775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从规则到平台化质量治理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057B5F-8B2E-4123-A7FB-36259504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590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建议决策：批准建立 AI 代码质量门禁机制，并纳入 PR / CI / 发布流程。</a:t>
            </a:r>
          </a:p>
        </p:txBody>
      </p:sp>
    </p:spTree>
    <p:extLst>
      <p:ext uri="{BB962C8B-B14F-4D97-AF65-F5344CB8AC3E}">
        <p14:creationId xmlns:p14="http://schemas.microsoft.com/office/powerpoint/2010/main" val="5581900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DA5EF5-2828-42A2-AE02-8A99B48A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050EEE-83AF-4ED8-94D4-FC18D5C1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01 | WHY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56FCB-A2A0-4425-98CC-57DE9099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AI 编码速度正在超过传统质量控制能力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549B0-F158-45CC-A23D-CF186FD6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问题不是 AI 写得太快，而是现有 Review 和测试机制无法线性扩容。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BFBA4-CF41-47B4-9441-A8F587D7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产出速度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0EFDE-7FE2-43BC-967F-AC99CCA8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显著提升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555297-D5C7-4525-888E-29DCF6FB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7177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可在短时间内生成大量实现、测试和重构代码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8C14FE-39E4-4AAD-A6C1-683B49E7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764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隐性风险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FE689-17E9-4BA0-B800-3E3A7CC4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336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同步上升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F0839-BE9C-4864-B9B9-05D6DED0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7177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错误假设、伪测试、越权、安全和依赖风险更难靠肉眼发现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3569A1-2C2C-4875-9732-BE9AAA17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764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rPr>
              <a:t>人工 Review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2E430-1FE2-49A2-AC45-ECEB0AFE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336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成为瓶颈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F7FE8-546F-4950-992B-D891FAFC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7177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逐行检查无法匹配 AI 代码提交频率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238BF2-F2DD-4718-A282-F138F0AA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6ACE8-F67D-4485-A059-D8EABCDA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12CFF7-600C-4389-8A78-2490FDEB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535AE8-174A-412E-8FCA-6940941A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核心矛盾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5F45A5-EE7B-4B03-A7EA-DDD11878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29175"/>
            <a:ext cx="2800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提高交付速度，但如果缺少自动化门禁，质量风险会从开发阶段转移到生产阶段。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0697C-1070-4B59-BA5A-12AC5D22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005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9D0056-D02B-4B4D-804F-431E5031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005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DCC42-6181-440A-ABF1-05521FF4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529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管理挑战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DCC66B-6163-4B46-8317-FF34E1A3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29175"/>
            <a:ext cx="2800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高管需要看到每次 AI 代码合并的风险等级、质量证据和可追溯责任。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E2B522-1B87-482E-91CD-0FF60AA3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005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932EE9-7FF3-4B8B-A312-0343CDFC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005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5998C3-56A5-4F71-9D62-95F7298E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52950"/>
            <a:ext cx="2800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解决方向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11FD60-0B41-469F-8F02-CDB8846D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29175"/>
            <a:ext cx="2800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用风险分级决定门禁强度，用自动化和 AI 辅助测试提升反馈速度。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61322E-B124-4DF4-A85E-FDACC6A2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FCF1B0-61CF-49F7-98A8-4C444053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代码质量门禁建设方案 | 高管汇报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097FBA-4E2D-425E-9F45-1CDD8575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6103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47975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E09E42-AEF2-4AA9-BD37-E3B948CB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648B4-E256-4D48-8AA3-EA245D4A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02 | TARGET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DD4FC-480D-4216-9BF4-65133214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建设目标：把 AI 代码纳入可治理、可审计、可度量的质量系统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154945-D258-44B8-85BD-D923AB6CB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从“人盯代码”升级为“系统守门 + AI 辅助 + 人工裁决”。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003F5-4500-4981-9D82-D3F15E8A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00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E35EE-B6D0-432F-B8E5-DC6015BB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治理层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481CDC-8464-4538-A5A7-79FF9BDD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5740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PR 模板、风险矩阵、AI 使用说明、质量责任、审批策略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AA13D-D0B8-4BFE-94CD-F30EFF72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3842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6BD03-B688-42C4-BF2D-8076D60D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00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F6C59F-4CE8-42A5-BDCD-3038012D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A5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7A52"/>
                </a:solidFill>
                <a:latin typeface="Aptos"/>
                <a:ea typeface="Aptos"/>
                <a:cs typeface="Aptos"/>
              </a:rPr>
              <a:t>执行层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7B3CFB-4DB3-41C7-870B-47C5BF03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4800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CI 自动测试、静态扫描、安全扫描、依赖扫描、覆盖率与回归选择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EF4BDF-B8EC-4F1B-9F11-A62072AD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2902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A815B-A517-4785-AEDB-AF231D59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00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BBB367-CAD4-4422-AE38-1E42CCE7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955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263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26300"/>
                </a:solidFill>
                <a:latin typeface="Aptos"/>
                <a:ea typeface="Aptos"/>
                <a:cs typeface="Aptos"/>
              </a:rPr>
              <a:t>智能层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73B1F-9E0E-4D81-B800-56F95EA4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3860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AI 分析 diff、生成测试建议、识别边界条件、总结 PR 风险、分析失败日志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4D5E77-90DF-4A8F-AC50-B4477E06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962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882C56-45BE-4C32-A5DC-ED910B06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200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D5E184-B325-4727-ACC9-D456D4F4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1771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反馈层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FEC53D-12FA-41ED-9BFF-9FAB4766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2920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DORA 指标、缺陷逃逸率、AI 变更失败率、复盘与门禁规则迭代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F8A91E-1634-4538-9C0D-55FB42E9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904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高管视角：这不是单个测试工具采购，而是 AI 时代软件交付的质量操作系统。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476A23-4DB0-413B-B691-6A5C3E9B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F67FAC-3713-4450-8323-CFB2F2B1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代码质量门禁建设方案 | 高管汇报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906CE3-D82D-4E80-B382-6CB72602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6103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691586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7CCF1F-79B7-46C9-AEC5-13DD0F85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6B62B-A21B-40F3-89EA-FD8C0B2D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03 | EXECUTION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50C75-ACAC-49CE-83AE-78D2F156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阶段流程：每一次 AI 代码提交都必须形成质量证据链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0E6EB-D97F-4BC4-9766-9AC198F1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门禁前移到 PR 阶段，阻断风险代码进入主干。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2D7E7D-A0B5-4CF4-9CF1-BD0AC6B9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2724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E243C-F255-4633-BB14-86B8BCFD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977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834F6-A259-43DF-8E46-32D153EB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00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需求/变更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C823A-3AD0-46C2-BEA4-4BC61D9D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764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明确目标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EA5E0-991B-455F-9FF6-B75D785F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336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B82DC-587D-437E-9F29-21038284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66900"/>
            <a:ext cx="2724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10D75-CA14-4AA3-A4B5-20DF662B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0977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30DC9C-508B-4FE4-83D4-BD72E024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00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AI 编码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0079F-F548-45A4-851F-936029A6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764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记录参与范围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63A68-05B1-4942-82F0-A0902110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336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55578-7F21-4570-B394-119CB38F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66900"/>
            <a:ext cx="2724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B8353-40D4-4863-B52A-1FC5342E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977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5999E7-FD71-4444-A058-AC9EBFD0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02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提交 PR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72D36E-ABE4-42B4-B826-3AFA5DE8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764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进入准入检查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B5A0B3-9E87-41D0-8E1B-88D3151C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724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EE3723-B005-41E8-93AA-213D7CC0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8B55CD-41CB-4B8D-B891-86609BC8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风险评估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96B91C-A29E-4858-89DC-BDFD31E5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528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确定门禁强度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C51821-EC3A-435F-8AA0-B205FC5C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099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6AA833-9897-46DD-B861-A7297EA1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2724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9341AE-C3D2-4BCF-A19B-E0F2D87E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861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4B7BA9-C62D-405C-BD47-95DBC6CC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76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自动测试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91A5D5-0BCB-41CD-BC16-3B5EC7B1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528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生成机器证据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B27444-1299-4EFF-8770-B2BD22B1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099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51AA29-0A1B-4867-84C0-7416F445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43250"/>
            <a:ext cx="2724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F806BA-F513-4E17-BB27-D3D13084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8612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F8F2DF-7A66-4B3B-B239-1D101869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76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AI 分析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43812F-F20F-4A0F-9B72-F0E2B36E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5282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补充测试盲区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254E9D-890D-4364-902E-30F1CC7F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2724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63445A-AAAA-4F82-86BB-62B86595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6247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9A9656-A3B2-40A6-BBE3-45D3F54D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52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人工 Review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8358A2-0A21-403D-ACB9-B37F13A7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291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业务语义裁决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69E7EB-CB8F-4D35-B184-3B541F2E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863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9DAF1D-B49C-47F6-87B7-FED6EB3C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19600"/>
            <a:ext cx="2724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42E0FB-6D53-412D-840F-87C61818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6247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A6F7E16-90E2-4FF6-83F9-8B3766AF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52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门禁判定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7B98F1-C572-40B2-B5F2-478F0B4B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291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合并/阻断/返工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D4C331-8FB6-4C93-9AF9-8C00DE5B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863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CB2F28-A314-4902-9A1B-94885B3A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19600"/>
            <a:ext cx="2724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9007D3-25D1-4A79-876E-E8EFF919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62475"/>
            <a:ext cx="495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4648744-C561-4104-BF4B-64234003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52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发布监控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019D32-3C4F-49DC-AB82-B4359243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29175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复盘持续改进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5D4D53-1D4A-4B66-87CB-AEE02C92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06818D6-0EDB-4A1F-8FDA-D13772F3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代码质量门禁建设方案 | 高管汇报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517F867-5175-48B3-A5B1-2D05D3E7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6103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761035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75858D-9F87-4FCD-ABAA-22152AB6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1C815-0750-4CBD-BACF-B7D7F5B9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04 | RISK-BASED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CE8D8-B619-4FE5-95F9-78CDB5AC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风险等级决定门禁强度：越接近核心业务，证据要求越高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66A5B-BA2E-429B-A16A-B568C757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避免一刀切：低风险不拖慢交付，高风险不降低标准。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C386E-8DBE-43C2-95A5-EC2D2F04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2381250" cy="3619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12383">
            <a:solidFill>
              <a:srgbClr val="147A5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866EF-4420-4D3C-8183-4F1D1B02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A5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7A52"/>
                </a:solidFill>
                <a:latin typeface="Aptos"/>
                <a:ea typeface="Aptos"/>
                <a:cs typeface="Aptos"/>
              </a:rPr>
              <a:t>低风险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70110-1674-46B7-AA28-9980CAEC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文案、样式、小重构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B7E73-D52D-41ED-AB81-D6DA3D6D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PR 完整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98F9C-4014-4606-903E-F63535C9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671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单元/快照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485A0-8B78-49D6-98A3-43F54BA5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静态扫描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38CDE-10B0-4F30-AB6A-1D439C62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密钥扫描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1DA7D-AEFE-4551-987F-B907B2F4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人工 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E7A16-B2BA-48D2-BC0C-3F4CE9E3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24050"/>
            <a:ext cx="2381250" cy="3619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2383">
            <a:solidFill>
              <a:srgbClr val="2457B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78603-9551-4634-9257-B05F4D58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中风险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47AE9-692B-45E0-ADE8-7A336229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955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API、校验、数据转换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B361B2-A4CC-443B-9410-6A312E0F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6705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低风险全部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8B2E87-5BB5-42F2-9DD0-DC851A6A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671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接口测试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26D77-D5DA-4B9B-8471-E0055635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6715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集成/契约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EC4B6F-B2E8-40FD-9A5B-C062813B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672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覆盖率不下降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CE651F-B695-42B4-8FE7-0621AF23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66725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AI 测试建议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D45442-1ACD-43F0-8EB1-295FF06A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24050"/>
            <a:ext cx="2381250" cy="3619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12383">
            <a:solidFill>
              <a:srgbClr val="B263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108DF6-EFB9-4A38-A35A-55544E8C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336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263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26300"/>
                </a:solidFill>
                <a:latin typeface="Aptos"/>
                <a:ea typeface="Aptos"/>
                <a:cs typeface="Aptos"/>
              </a:rPr>
              <a:t>高风险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2A06E8-B3BB-489C-93EA-AAC35C1A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权限、支付、订单、隐私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CBD35E-632F-4314-AA22-56F5B72D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6705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中风险全部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40D0EA-83C6-4A0A-A0C6-3134AAF4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671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关键 E2E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F08A8D-A306-4B43-B12F-EACA3B8C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6715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安全测试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16D6DA-848E-4E1A-8BAC-90A4635F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672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依赖扫描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A2B57B-7109-4934-81EE-5F93073D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回滚+监控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6770C4-C998-45C6-949B-63BE74CB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24050"/>
            <a:ext cx="2381250" cy="3619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0ED"/>
          </a:solidFill>
          <a:ln xmlns:a="http://schemas.openxmlformats.org/drawingml/2006/main" w="12383">
            <a:solidFill>
              <a:srgbClr val="B4231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701F0B-27EB-42AE-9AA7-F0FDEF99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336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严重风险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5476BB-1952-4AF9-83A1-56BDAE39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955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不可逆数据、合规、金融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9A7B28-9202-488C-AB96-2FBC52AD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06705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高风险全部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76F60D-7595-4A2E-BC75-B5BC5D52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671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独立评审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B5A6F1-7B7D-47AD-81F5-0CB06912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6715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灰度发布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207536-F770-4148-8753-860051F9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6720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备份演练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D2076C-6F4E-4539-B399-5D32B562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667250"/>
            <a:ext cx="1847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• 明确审批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67A049-4D19-472C-92B1-85640D7F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09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高风险阻断示例：权限变更无负向测试、核心链路无 E2E、数据库变更无回滚、新依赖未扫描。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A77948-C6F0-43B0-A694-C075B0B4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5DD9D8-06EA-407E-83EE-60C195BC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代码质量门禁建设方案 | 高管汇报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DA7BA2-157D-48C7-99BA-23D3AAB5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6103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284274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3B2343-2093-4CE6-93DA-46094109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EE0DB-C9DA-4861-8AC9-FB99C45C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05 | AUTOMATION + AI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DA6EB-4FB1-43DB-9DCD-5B8D4D18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自动化负责快速阻断，AI 负责发现测试盲区，人负责最终裁决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45803-5D49-4A1C-827C-5ABECF96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把 AI 从“代码生成者”扩展为“测试增强助手”，但不让 AI 单独决定放行。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F1CEE-BEEC-4C03-8C96-CD0488DD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FF362-556A-4281-8C58-AC2847A0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44690A-13BF-4273-BDD7-FFD95E43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441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CI/CD 自动门禁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0113C-9A2C-4FDA-9C4E-706F95CA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14575"/>
            <a:ext cx="441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单元测试、接口/集成、契约、E2E、静态扫描、密钥扫描、依赖扫描、覆盖率检查。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BEB66-BF6E-4E16-A352-1DBF89ED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89199-48CF-48E3-A59B-4B2DE0E1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F13D8-0196-48E4-901B-22DF3D84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441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AI 辅助测试分析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A0989-0647-453D-9546-B2AD5B67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57575"/>
            <a:ext cx="441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分析 PR diff、识别影响范围、生成边界场景、建议回归范围、分析失败日志。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40443-FFF6-4536-9613-B5D40B34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476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35B81-DF7D-49A7-8410-D826B7D2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0F7960-6FCA-4E21-A1DD-9ED4DF94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441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人工质量裁决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143FD-6F4A-4B1A-9AD7-725D589C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00575"/>
            <a:ext cx="4419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确认业务语义、判断风险等级、审核 AI 测试质量、处理例外发布。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44DF1C-D18B-4B39-B286-5A6D697C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193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2B6861-E0DF-4BFB-AB65-DEAFFF04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0980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3D5D24-44D7-425A-9151-C367E8F0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24050"/>
            <a:ext cx="3524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7CB667-D56A-4A64-871F-DC41591D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526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每个 PR 输出质量报告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ACB5FC-CAE4-411F-9FC0-F3720180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4795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✓ 风险等级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3E5E7B-32CA-4E8F-8FD9-C67CE4FF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81325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✓ 必须补充测试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53D33-F107-4504-9919-46C507ED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1470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✓ 自动化执行结果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435690-03FA-4A86-9593-F288F52F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48075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✓ 安全/依赖扫描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002F65-8A92-4E2B-9E5B-225E4246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8145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✓ AI 评审结论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1D826D-11BD-406D-8B2B-DF995A5E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14825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✓ 人工 Review 结论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11D5C2-1A52-45DA-9076-75E55AEE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48200"/>
            <a:ext cx="2781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✓ 是否允许合并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9E8151-A5AB-45B5-A64D-406C25DA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B60FD2-DDA1-4D19-8F25-183567D7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代码质量门禁建设方案 | 高管汇报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013B45-AC0D-4E09-858F-BCE79BC9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6103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258002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11BA28-D837-4B90-8E6B-0D3ABF1A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F8935-856E-4A9A-9CD6-803A568B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06 | PLATFORM CAPABILITIES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A5482-41B7-41BC-AF77-08AD1AA1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落地平台：把制度、工具和证据统一到一个质量工作台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C7996-C6AD-4463-B4F3-817B5CA5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当前已在本地实现 Web 原型，可继续接入真实 PR、CI 和测试平台。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6DFE3-36BC-4253-AB31-FC7102C3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2343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8A1AF-37F6-432A-BA96-48CBF72D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治理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508644-E259-4EC9-AF78-46E45720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81275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策略 / 模板 / Prompt 指南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3C4006-07D6-48B4-B864-5F51FAAA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57400"/>
            <a:ext cx="2343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DFB90-9C40-4299-9838-D1D7BD71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479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准入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3873E-2F76-429A-89DE-AC6EBF8E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81275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AI 范围 / 影响模块 / 回滚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D442C-8C20-4F80-8E43-C18016E7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57400"/>
            <a:ext cx="2343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89AB8-6ADD-4669-8F38-89A7AC90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479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风险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6981F-EF05-457A-A971-24F5B88E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81275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8 维评分 / 动态门禁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DF177D-BF50-41BD-976C-96F1874F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57400"/>
            <a:ext cx="2343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8D7CE-702B-4DD6-9209-5A994458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479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测试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497B9B-11E7-49DE-BA62-47780A8A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81275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单元 / 契约 / E2E / 变异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348FB-B069-4EDF-B999-22249DE3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343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FE94E2-16BC-4517-AD30-E4F0EF64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5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7A52"/>
                </a:solidFill>
                <a:latin typeface="Aptos"/>
                <a:ea typeface="Aptos"/>
                <a:cs typeface="Aptos"/>
              </a:rPr>
              <a:t>安全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A4D932-297F-4503-9DBB-B8004B6A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SAST / 密钥 / LLM 风险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1DCF4-3096-43A4-869A-4AF3A7D5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43300"/>
            <a:ext cx="2343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662E89-F136-4851-8CA2-214555A8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338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5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7A52"/>
                </a:solidFill>
                <a:latin typeface="Aptos"/>
                <a:ea typeface="Aptos"/>
                <a:cs typeface="Aptos"/>
              </a:rPr>
              <a:t>供应链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14791-8FD5-4CC3-A700-2BE34CC5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67175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SCA / SBOM / 签名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15A44B-6846-487C-ABF2-0ED9D5E9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43300"/>
            <a:ext cx="2343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096E5A-D450-44A4-A855-108A59F2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338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5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7A52"/>
                </a:solidFill>
                <a:latin typeface="Aptos"/>
                <a:ea typeface="Aptos"/>
                <a:cs typeface="Aptos"/>
              </a:rPr>
              <a:t>评审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4798F6-C69F-49A6-AF28-A3AF475A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67175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AI 建议 + 人工裁决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E49075-05D1-4309-8619-C239F251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43300"/>
            <a:ext cx="2343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608E98-A2AE-4951-A074-C8DCCDB9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338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7A5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7A52"/>
                </a:solidFill>
                <a:latin typeface="Aptos"/>
                <a:ea typeface="Aptos"/>
                <a:cs typeface="Aptos"/>
              </a:rPr>
              <a:t>度量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F69084-E429-45EF-B97B-F2C81A73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67175"/>
            <a:ext cx="1905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DORA / 逃逸 / AI 失败率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9E5AD6-306E-4A73-8369-4EC5962D7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平台化价值：减少口径争议，让每次 AI 代码合并都有同一套风险、证据和责任记录。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DF4C0C-263A-4E12-BAB1-315FD89B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563DB4-F558-49D6-AFE4-F96B1476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代码质量门禁建设方案 | 高管汇报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F6697F-ED3B-4345-8CCA-23F8907B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6103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8328638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0F7F7E-FC40-4ED4-92B0-44C48FD8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E1935-013A-407E-95A9-6774ECC0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07 | OPERATING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C7876-A16F-473F-974E-E7F7C819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职责边界：测试工程师成为质量门禁负责人，而不是人工补位者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8AEB9-D4A4-42C9-B94A-E6AE2035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时代的质量治理需要明确角色，避免“AI 生成、无人负责”。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4A454-580E-4764-991F-982A07B8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001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421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3D15A-BC22-48B2-8795-35243BF8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角色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FF911-F5F5-4B0B-83DD-90763AC9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66925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核心职责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88912-7FA7-40A3-B778-C676511C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00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B8D64-7227-45EF-BB25-8D52CD1C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测试工程师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0554D-B694-4CA6-9377-8B2E1FEC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19375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制定风险规则、门禁标准、自动化策略；审核 AI 测试建议；推动缺陷模式沉淀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DB893-0E39-4626-951F-B7B233B3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00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21580-4A0B-4A4E-A83D-62D22925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开发团队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1AE2F-01F0-4E5C-94CC-399B9971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24225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提供变更说明、测试证据、修复失败门禁；约束 AI 生成范围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6BA45D-0B86-4205-B795-64E5E8E1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00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F9ACC6-2AEE-4774-9CB4-6824B171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架构/安全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CDA99-8F39-441F-B553-A6C5EA4C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29075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审核高风险变更、供应链风险、权限安全和核心链路影响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09E8F2-4317-47C6-9541-4FCD4E71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00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F5685-DCF4-4875-8B71-9E2D08A2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业务负责人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B68D6B-6CC5-4CA9-AA7C-78B1B124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33925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确认严重风险变更的发布价值、灰度策略和风险接受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A7A2AA-319B-47C1-8635-73E45011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001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CFAD33-349D-4F13-8287-FE4DF421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平台/DevOps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BD02F9-1B99-4F19-ACB3-5BBCE7AE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38775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D2430"/>
                </a:solidFill>
                <a:latin typeface="Aptos"/>
                <a:ea typeface="Aptos"/>
                <a:cs typeface="Aptos"/>
              </a:rPr>
              <a:t>把门禁接入 PR、CI、发布和监控链路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A90813-2ABF-4416-A439-10DEC179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DCBD9C-CA94-4A82-B091-40BCF9A9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代码质量门禁建设方案 | 高管汇报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F04109-897F-4CC3-89E3-EFAE1832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6103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0166910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8EBCA7-D9D0-44C4-8264-111C81992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DB6FD-E442-42EF-84B5-0F354722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08 | 90-DAY ROLLOUT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0E768-9A23-4A8F-A209-025F71AC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90 天落地路线：先建规则，再接自动化，最后平台化度量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3319D-67C0-49E9-A388-CB897B68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用分阶段推进控制组织阻力，避免一次性大改流程。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C5D7A-0A0F-4863-8D88-359F0D61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C8F2F-C034-4E06-B6A4-51BCC549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43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243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35682-E7E5-4DE5-AA05-3B2B7F61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0-2 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6F9AA-D5D6-4C8A-9A48-02B91913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建立规则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4CD36-FB7D-411B-BC40-07E3CD18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695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PR 模板、风险分级、低/中/高门禁、AI 参与范围说明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A53F6-F9AD-4C1A-81BE-ED2B56C6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19AF7-2D73-4BD2-8D7C-EAB14BCD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24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4ABA2-C896-44AC-9EB2-177E4203C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813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3-6 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A463C-D6DA-407A-B3AF-8BFE30F8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242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接入自动化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29218-D99E-4909-8E80-562A1F04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86150"/>
            <a:ext cx="1695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单元、接口、静态扫描、密钥扫描、覆盖率、CI 阻断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9BA160-D0E9-4D2E-AE3C-C6334F7F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479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4EB4FB-C875-46EF-9920-9F9E16C1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43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243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741709-AA74-4FDA-AB8B-6923FA11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813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7-10 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D4E919-4D7C-4A9F-80D9-549C5844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242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AI 测试分析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BFCD8-BF64-4939-AE72-A99F9214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86150"/>
            <a:ext cx="1695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diff 影响分析、测试建议、风险总结、日志归因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53928B-0D03-42B4-9AA0-31855204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479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7BAD68-6428-4C8A-A94A-6C82E15E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43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24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4D7C95-3147-400D-A6E3-DE20DFB2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813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11-13 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38B570-3F4C-4C9B-8EAF-73CC820D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242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风险驱动回归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30DF2F-0090-4457-9E24-25ED5CF3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86150"/>
            <a:ext cx="1695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核心链路 E2E、变更影响选择回归、高风险专项测试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870FB5-F3F9-4297-96D5-295542B5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479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1E41C9-881D-4FCC-95DF-B0D96A69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43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243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E6AFB-416B-4ABA-9D12-AE0A8E33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813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持续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43AFDF-DAC3-4DE0-93D3-7FDEE258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242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度量改进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CC4F61-A8CA-46AF-9210-9BEE0295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86150"/>
            <a:ext cx="16954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逃逸缺陷、AI 失败率、DORA 指标、门禁迭代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FB9F97-7F32-415A-91CB-4D638496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建议启动方式：选择 1-2 条高价值业务线试点，2 周内建立 PR 门禁规则，6 周内形成自动阻断能力。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453278-C6C7-49C2-8EF2-70E7EA94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1DEB11-568E-4645-A91B-22B8537F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代码质量门禁建设方案 | 高管汇报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17F0AB-4200-4E47-83E3-DE4873B6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6103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560661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EC278C-5FED-4ECE-B5C4-03CAB84F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5EF2B-A77B-4CBC-B292-DF129D06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457B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57B7"/>
                </a:solidFill>
                <a:latin typeface="Aptos"/>
                <a:ea typeface="Aptos"/>
                <a:cs typeface="Aptos"/>
              </a:rPr>
              <a:t>09 | EXECUTIVE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D91C9-DEB4-4755-A1A9-2041B61A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D2430"/>
                </a:solidFill>
                <a:latin typeface="Aptos Display"/>
                <a:ea typeface="Aptos Display"/>
                <a:cs typeface="Aptos Display"/>
              </a:rPr>
              <a:t>需要高管批准的不是一个工具，而是一套 AI 代码质量经营机制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DD80D-E67D-4A54-80D8-D8F29705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用指标衡量收益，用门禁控制风险，用复盘持续改进。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71E12-5B02-48DA-9A4B-48EC34B5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42318"/>
                </a:solidFill>
                <a:latin typeface="Aptos Display"/>
                <a:ea typeface="Aptos Display"/>
                <a:cs typeface="Aptos Display"/>
              </a:rPr>
              <a:t>缺陷逃逸率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F11D5-66A8-4003-9376-8808F3EF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核心质量指标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63352-4978-49F9-B98F-CC967724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衡量生产缺陷是否被前置拦截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6ED82-2A69-418E-BEDC-E4118E2B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26300"/>
                </a:solidFill>
                <a:latin typeface="Aptos Display"/>
                <a:ea typeface="Aptos Display"/>
                <a:cs typeface="Aptos Display"/>
              </a:rPr>
              <a:t>AI 变更失败率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149C4-D4C8-4498-ADA6-DDDCCED7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574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AI 专属指标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9F7E4-CFD9-4F16-83F6-FD43E99F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95575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衡量 AI 代码质量和 Prompt 体系成熟度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D241A-3EB5-44C7-A5EF-7955A1E8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002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457B7"/>
                </a:solidFill>
                <a:latin typeface="Aptos Display"/>
                <a:ea typeface="Aptos Display"/>
                <a:cs typeface="Aptos Display"/>
              </a:rPr>
              <a:t>回归通过率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7F08AB-0A06-4FF7-873E-4EA73B04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574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自动化可信度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A170BF-7B5E-4CC0-AB64-0B7ECDA6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95575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衡量测试资产是否稳定保护核心链路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CC53C9-89F1-45BD-8DCC-C5AD013C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0025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47A52"/>
                </a:solidFill>
                <a:latin typeface="Aptos Display"/>
                <a:ea typeface="Aptos Display"/>
                <a:cs typeface="Aptos Display"/>
              </a:rPr>
              <a:t>恢复时间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9E8DA-CD77-4F9B-8B3E-002FBEAA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574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韧性指标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8A51B-7EF5-4B96-A165-25C3D5A8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95575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衡量高风险变更出问题后的恢复能力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884BFD-76AE-44D2-AF01-FC205717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3162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208F6-9F1F-462A-AC80-0730DFA2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B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5C3898-DB48-4EFE-A9E2-3FA0DF21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338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决策 1：流程纳入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356F3B-1AA4-4755-A36B-889752EC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0075"/>
            <a:ext cx="2819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所有 AI 参与代码必须进入 PR 门禁，禁止绕过主干保护。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7C1432-BEFF-421E-BF7E-9C80D087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81450"/>
            <a:ext cx="3162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B819F5-A24B-4C52-8C63-F120A5CE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814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5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018AE9-4D82-449B-9A29-C1C03E33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338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决策 2：平台投入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15D94A-4AD9-42F3-A872-7210A078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410075"/>
            <a:ext cx="2819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建设自动化测试、扫描、AI 分析和质量报告能力。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9B5BC1-6B0A-46EA-900C-2CEA0CB0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81450"/>
            <a:ext cx="31623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E21483-A37F-4342-96EA-455040B8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814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63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5B3952-E661-46EB-83D9-998205ED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33850"/>
            <a:ext cx="2819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决策 3：组织授权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C5F6F7-75A8-4978-ACB4-8CE448BF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10075"/>
            <a:ext cx="2819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测试工程师负责门禁规则，开发、安全、架构共同承担证据。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0B7FB7-00DC-4829-8642-57C2937B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962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2430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2430"/>
                </a:solidFill>
                <a:latin typeface="Aptos"/>
                <a:ea typeface="Aptos"/>
                <a:cs typeface="Aptos"/>
              </a:rPr>
              <a:t>预期结果：在不显著牺牲交付速度的前提下，让 AI 代码的合并风险可见、可控、可追责。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915736-1D1E-4588-B277-8AA22839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944FCB-5621-4D2D-898E-AD95D0D7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035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AI 代码质量门禁建设方案 | 高管汇报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D7141E-AA12-4B52-A80B-15F4E5F5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6103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966347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2026-06-05T08:27:37.2690000Z</dcterms:created>
  <dcterms:modified xsi:type="dcterms:W3CDTF">2026-06-05T08:27:37.2690000Z</dcterms:modified>
</coreProperties>
</file>
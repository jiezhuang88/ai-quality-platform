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32db32630c4ca7" /><Relationship Type="http://schemas.openxmlformats.org/officeDocument/2006/relationships/extended-properties" Target="/docProps/app.xml" Id="R4d43409ae81e4ae7" /><Relationship Type="http://schemas.openxmlformats.org/officeDocument/2006/relationships/officeDocument" Target="/ppt/presentation.xml" Id="Rc1997dbf0e3f4b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5576b1630e4dd1"/>
  </p:sldMasterIdLst>
  <p:notesMasterIdLst>
    <p:notesMasterId xmlns:r="http://schemas.openxmlformats.org/officeDocument/2006/relationships" r:id="R86486e8d64c84da4"/>
  </p:notesMasterIdLst>
  <p:sldIdLst>
    <p:sldId xmlns:r="http://schemas.openxmlformats.org/officeDocument/2006/relationships" id="256" r:id="R40ddf92b6ede4107"/>
    <p:sldId xmlns:r="http://schemas.openxmlformats.org/officeDocument/2006/relationships" id="257" r:id="Rfbf8140d1a204db9"/>
    <p:sldId xmlns:r="http://schemas.openxmlformats.org/officeDocument/2006/relationships" id="258" r:id="Rb92ebb9deaae4b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a80be3d40e42cb" /><Relationship Type="http://schemas.openxmlformats.org/officeDocument/2006/relationships/slideMaster" Target="/ppt/slideMasters/slideMaster1.xml" Id="R6f5576b1630e4dd1" /><Relationship Type="http://schemas.openxmlformats.org/officeDocument/2006/relationships/notesMaster" Target="/ppt/notesMasters/notesMaster1.xml" Id="R86486e8d64c84da4" /><Relationship Type="http://schemas.openxmlformats.org/officeDocument/2006/relationships/presProps" Target="/ppt/presProps.xml" Id="R27c7f453021444e8" /><Relationship Type="http://schemas.openxmlformats.org/officeDocument/2006/relationships/viewProps" Target="/ppt/viewProps.xml" Id="R3ec7a5eccd83425c" /><Relationship Type="http://schemas.openxmlformats.org/officeDocument/2006/relationships/tableStyles" Target="/ppt/tableStyles.xml" Id="R2094ad3609e84814" /><Relationship Type="http://schemas.openxmlformats.org/officeDocument/2006/relationships/slide" Target="/ppt/slides/slide1.xml" Id="R40ddf92b6ede4107" /><Relationship Type="http://schemas.openxmlformats.org/officeDocument/2006/relationships/slide" Target="/ppt/slides/slide2.xml" Id="Rfbf8140d1a204db9" /><Relationship Type="http://schemas.openxmlformats.org/officeDocument/2006/relationships/slide" Target="/ppt/slides/slide3.xml" Id="Rb92ebb9deaae4b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43c161611b45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af4f970a254ad9" /><Relationship Type="http://schemas.openxmlformats.org/officeDocument/2006/relationships/notesMaster" Target="/ppt/notesMasters/notesMaster1.xml" Id="Rb5319d9ff14745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f77a966cd54e9a" /><Relationship Type="http://schemas.openxmlformats.org/officeDocument/2006/relationships/notesMaster" Target="/ppt/notesMasters/notesMaster1.xml" Id="Rd57c19e27ffd40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f262c8ce5b426a" /><Relationship Type="http://schemas.openxmlformats.org/officeDocument/2006/relationships/notesMaster" Target="/ppt/notesMasters/notesMaster1.xml" Id="R6e40e42e31e14f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f0f563e5e43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82bcafabe0444c" /><Relationship Type="http://schemas.openxmlformats.org/officeDocument/2006/relationships/slideLayout" Target="/ppt/slideLayouts/slideLayout1.xml" Id="R44b0fe638f3b46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b0fe638f3b46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a46697f654d7e" /><Relationship Type="http://schemas.openxmlformats.org/officeDocument/2006/relationships/notesSlide" Target="/ppt/notesSlides/notesSlide1.xml" Id="R4374863e4a1f4b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162d199394f3d" /><Relationship Type="http://schemas.openxmlformats.org/officeDocument/2006/relationships/notesSlide" Target="/ppt/notesSlides/notesSlide2.xml" Id="R0eb7e445af994c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0339f71724603" /><Relationship Type="http://schemas.openxmlformats.org/officeDocument/2006/relationships/notesSlide" Target="/ppt/notesSlides/notesSlide3.xml" Id="R0c9859f92f6d43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30AAAB-DA91-4621-A0E9-B1C45DCF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AE953-5ED0-469E-AA03-5A9EFED5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rPr>
              <a:t>CTO REVIEW | 3-PAGE EXECUTIVE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7E8FC-7F2B-43DA-A017-627E42EB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Coding 时代沃尔玛电商质量保障体系演进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53359-23F2-41A7-B818-A952EA4B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从“测试阶段验证”升级为“AI-Native Quality Engineering”：用风险门禁、测试智能体和质量经营体系，支撑 AI 大量提交代码下的稳定交付。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32BAB-B0E7-47EB-88E6-6144BD4E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10668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DC3A1-6DB6-4779-95D9-0B787D68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风险经营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D0999-7771-4E46-9E5F-3401428C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00350"/>
            <a:ext cx="1428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E28A2-9ED6-455B-BC36-A2440C72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67025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SDLC 前移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0ABAB-652F-4BB4-BE41-47588227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1428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C4554-CF98-42E6-BE95-C0AD002F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67025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测试智能体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2B6D6-4BC5-4B1A-8D2E-48F33637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10668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F2C0B-6678-4BB9-BAF5-54E82E23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67025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自动门禁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17EB9-B91A-4AE7-9F33-3AD1C8EE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428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DFBC3-506B-4FC6-B4CA-C3350BF9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67025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业务验收闭环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1228B-3468-4B42-8032-7B58D08C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21526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430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11640-F8E4-4C43-BD65-F26E8805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rPr>
              <a:t>过去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C0F46-7B96-4A57-8D21-0FC7D74F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测试执行 / 用例通过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63BBE-F426-4C83-9E23-DC4D60D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集中在测试验证阶段，发现问题偏后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304C8-3916-439A-97D6-5F0C4058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00450"/>
            <a:ext cx="21526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430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898E0-0BF2-4727-8B48-ED05C27E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719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rPr>
              <a:t>现在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A9519-B809-4818-AE3A-B8950C51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576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工具平台 + 指标监控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543CA-BA08-4C22-A7E9-B4FB4508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0055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已有数据银行、自动化、性能、混沌与 Sonar 等基础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DCAC3A-A7D8-4A21-946E-5505C977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00450"/>
            <a:ext cx="21526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63763"/>
          </a:solidFill>
          <a:ln xmlns:a="http://schemas.openxmlformats.org/drawingml/2006/main" w="11430">
            <a:solidFill>
              <a:srgbClr val="FFC2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4BB39-40BC-4A2E-ABFA-9032A082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719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22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C220"/>
                </a:solidFill>
                <a:latin typeface="Aptos Display"/>
                <a:ea typeface="Aptos Display"/>
                <a:cs typeface="Aptos Display"/>
              </a:rPr>
              <a:t>未来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664D69-800C-4324-8E1B-2164EDD2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576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AI-Native 质量经营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54A681-F78C-480F-A416-44932D2B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0055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AI 自动识别风险、推荐测试、生成证据、驱动门禁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0AFE74-8498-4191-8415-E763808C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71550"/>
            <a:ext cx="2990850" cy="445770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2C8783-4863-471C-9A3F-4C54F6EA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763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C2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C220"/>
                </a:solidFill>
                <a:latin typeface="Aptos Display"/>
                <a:ea typeface="Aptos Display"/>
                <a:cs typeface="Aptos Display"/>
              </a:rPr>
              <a:t>建设目标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34897-E128-48CA-A57A-CE46B736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7165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rPr>
              <a:t>4 道门禁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6695C-4D67-4EEF-9657-1F1A98E1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 / 测试 / UAT / 发布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2762F0-E729-4AD8-BBAE-BD2A57C6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风险等级决定门禁强度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064F7D-0654-4A9B-9CAD-97E176AC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EF0D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8EF0D3"/>
                </a:solidFill>
                <a:latin typeface="Aptos Display"/>
                <a:ea typeface="Aptos Display"/>
                <a:cs typeface="Aptos Display"/>
              </a:rPr>
              <a:t>5 类智能体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6477CF-D74A-4E81-B0B0-48F277B1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3850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需求、Diff、用例、日志、复盘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19CD96-D210-4663-A621-B5DC41BB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480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让 AI 参与质量分析与证据生成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F10568-8310-400C-BAFF-EBE257C0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D98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D98A"/>
                </a:solidFill>
                <a:latin typeface="Aptos Display"/>
                <a:ea typeface="Aptos Display"/>
                <a:cs typeface="Aptos Display"/>
              </a:rPr>
              <a:t>1 个看板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DF21E0-8B8C-4530-B9CD-87086714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243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质量经营 cockpit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4AACFB-09FE-408E-8757-75D543A9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339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缺陷逃逸、AI 变更失败、核心链路稳定性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4FF943-DB4B-45F5-9E3A-FFFB53E9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7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核心结论：测试团队的未来角色不是“多跑测试”，而是经营 AI 代码变更风险，并把质量证据自动沉淀到每次交付决策中。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165481-5BEE-419B-8094-73550DD0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56F984-8D85-4170-8B35-A8FDCCE4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103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Coding 时代沃尔玛电商质量保障体系演进 | CTO 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468D13-75C1-4895-9BC8-F0F03C19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99921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58051-AE47-4FA0-80E1-C36DCF26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800BF-C084-4CA3-A7D0-8200CB52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01 | 目标流程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07A5E-6580-4984-AFB1-2976CD18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3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3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SDLC 全链路质量门禁：风险等级决定门禁强度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0FCF8-B106-40D9-B829-0CB5DE63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安全与供应链不是独立阶段，而是贯穿需求、PR、测试验证、UAT 准入与发布的横向控制能力。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76468-F5F9-4241-92A6-CFE8D4C6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466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57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F3DD7-711C-4691-93B3-9C391D0E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需求/设计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5DE08-C9E4-44FC-A32F-5BEEEA82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需求风险识别</a:t>
            </a:r>
          </a:p>
          <a:p xmlns:a="http://schemas.openxmlformats.org/drawingml/2006/main">
            <a:pPr algn="ctr">
              <a:defRPr sz="77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验收标准结构化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A3B8D-48BD-4109-8B1D-71D5C482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133600"/>
            <a:ext cx="2952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B3763-B7A0-4D9D-B7D6-91E1995C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638300"/>
            <a:ext cx="1466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007C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E1A7F-0312-4175-9095-9FDDDC8F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97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C89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7C89"/>
                </a:solidFill>
                <a:latin typeface="Aptos Display"/>
                <a:ea typeface="Aptos Display"/>
                <a:cs typeface="Aptos Display"/>
              </a:rPr>
              <a:t>AI 编码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58CBB-3DD1-4920-B879-F27A2582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1336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Prompt 约束</a:t>
            </a:r>
          </a:p>
          <a:p xmlns:a="http://schemas.openxmlformats.org/drawingml/2006/main">
            <a:pPr algn="ctr">
              <a:defRPr sz="77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单测自检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0E07B-84AA-4F55-BA27-12CE6FCE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33600"/>
            <a:ext cx="2952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2A02C-FE3C-4936-87CD-56D20A91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38300"/>
            <a:ext cx="1466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6E3C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87540-A97C-41CA-9248-BEAC2248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rPr>
              <a:t>PR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BB756-B5C0-4741-B750-E51626FF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Diff 风险评分</a:t>
            </a:r>
          </a:p>
          <a:p xmlns:a="http://schemas.openxmlformats.org/drawingml/2006/main">
            <a:pPr algn="ctr">
              <a:defRPr sz="77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Sonar/覆盖率/依赖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B6E4F-06FC-4473-95D5-BD3487F9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33600"/>
            <a:ext cx="2952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2661D-278E-4BC9-AD59-74111F77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38300"/>
            <a:ext cx="1466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47A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C6B54-955E-4089-A560-8D6B0A77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097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测试验证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2C480-0F73-4877-B74A-0187752F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336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接口自动化</a:t>
            </a:r>
          </a:p>
          <a:p xmlns:a="http://schemas.openxmlformats.org/drawingml/2006/main">
            <a:pPr algn="ctr">
              <a:defRPr sz="77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性能/混沌/数据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0CC94-666D-4FE3-B2FC-82DFF407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2952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71471-ED91-4E12-9CEA-A92EE691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1466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263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442E8-D2D5-4390-B97A-509360BE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UAT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78D87-ECCE-4EFF-911F-8721E5CB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业务验收</a:t>
            </a:r>
          </a:p>
          <a:p xmlns:a="http://schemas.openxmlformats.org/drawingml/2006/main">
            <a:pPr algn="ctr">
              <a:defRPr sz="77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金额/库存/履约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402F2-3274-4F1E-9122-5113A156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133600"/>
            <a:ext cx="2952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CB50B3-2FE0-4280-ACEF-F8D5C86D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638300"/>
            <a:ext cx="1466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18975D-D499-4A21-A4A6-DCC6107B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8097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发布复盘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0AE58-A1F0-4F32-BA5E-0E823F20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1336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灰度监控</a:t>
            </a:r>
          </a:p>
          <a:p xmlns:a="http://schemas.openxmlformats.org/drawingml/2006/main">
            <a:pPr algn="ctr">
              <a:defRPr sz="77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缺陷逃逸复盘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3CC766-55E8-4E7F-AD92-E525083D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风险分级：把 AI 大量提交变成可治理队列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81EFD0-0EB3-4C3C-AA98-4FB14345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428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47A5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C5E557-6687-4539-91BD-E54F96F7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266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8A2EDC-0727-421F-99D6-744F00BB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71850"/>
            <a:ext cx="1866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9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文案/样式/非核心页面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D5C233-523D-4782-93C6-0C777F40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Sonar 无高危 + 单测/快照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9FE4C8-7DA1-4D26-BFA2-E256ACEC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428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57B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0526AF-F609-47A4-B926-E5631712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266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105B96-5B4C-434B-9AA8-0852D7DA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24300"/>
            <a:ext cx="1866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9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普通接口/数据展示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5C3260-33A3-47EA-A2EF-55D9FEB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接口自动化 + 覆盖率不下降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50DF49-9CD9-46AF-8B43-47D0CCF2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428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263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904339-15E8-4417-88D8-2A6291FF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266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65C0D6-44F3-42E6-BC32-F922FA5C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1866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9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订单/优惠/库存/支付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01E368-AEC3-471C-8556-057F573D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E2E + 契约 + 性能/混沌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FB9620-C25E-43F7-A0D5-C48514A8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428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9ED6C1-25A2-44A7-BF40-38687DA7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266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严重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41EECC-2C79-4F62-A453-B46A8974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29200"/>
            <a:ext cx="1866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9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金额规则/批量数据/核心交易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4858B2-10EF-4464-BABB-7BD02948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00650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业务审批 + 灰度 + 回滚预案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4BAC71-4980-403E-979C-7C65A7C9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9900"/>
            <a:ext cx="31242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EB900C-2E21-4CF0-9BA2-80159D69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194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现有平台升级方式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47C917-A52F-489F-B01D-6C53CC1C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00450"/>
            <a:ext cx="2571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数据银行：自动准备优惠、库存、支付测试数据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02B85A-CBAF-4D41-B399-BA2770F3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05250"/>
            <a:ext cx="2571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自动化框架：按 Diff 推荐接口/E2E 回归集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A6B479-27F4-4A7C-B9FF-70BCAFED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10050"/>
            <a:ext cx="2571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性能平台：高风险 PR 触发核心接口 P95/P99 验证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D47022-5282-4FBF-B8C0-ED15B851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14850"/>
            <a:ext cx="2571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混沌工程：订单链路依赖降级、超时、重试验证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4FF50D-BE83-489E-988C-4E2C262C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19650"/>
            <a:ext cx="2571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质量指标：从展示指标升级为阻断/放行规则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6C3B6E-E354-48A4-B67A-649EC458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31242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0213F"/>
          </a:solidFill>
          <a:ln xmlns:a="http://schemas.openxmlformats.org/drawingml/2006/main" w="9525">
            <a:solidFill>
              <a:srgbClr val="10213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A7673C-9712-4208-8EB9-21748051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194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C220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FFC220"/>
                </a:solidFill>
                <a:latin typeface="Aptos Display"/>
                <a:ea typeface="Aptos Display"/>
                <a:cs typeface="Aptos Display"/>
              </a:rPr>
              <a:t>AI 测试智能体编排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FA9443-46C9-4F42-8BF0-1CFFD2F9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914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FF357A-B15D-4D5C-A149-04EB7760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48075"/>
            <a:ext cx="76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需求 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958381-0D2F-4D66-B850-5FE33EB2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385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抽取规则与验收点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9C52FA-B64B-4543-A12D-948D7178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914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EF4D18-F711-48CF-A9C2-AF5B25D4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71925"/>
            <a:ext cx="76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 Diff Agent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B7C360-DE7D-40AF-8AB4-0CF9DF48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624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识别模块/链路/风险等级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AD26AF-8984-4E57-8B77-28820402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29100"/>
            <a:ext cx="914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1FAABA-DB78-4601-B8AC-490C3314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95775"/>
            <a:ext cx="76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用例 Agent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21B60B-ABBA-4E1E-9478-C648B413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862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生成边界、组合、回归建议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AFD63D-E6D9-4AC3-A7A3-79514FD2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52950"/>
            <a:ext cx="914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54AF88E-A99A-498A-88C2-C003CBE5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9625"/>
            <a:ext cx="76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日志 Agent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C8FF88-CC25-48FA-AE3C-34C5A7D2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101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失败归因与缺陷定位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0A29B6-4C6C-4CC4-A534-8703F26D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76800"/>
            <a:ext cx="914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9A9A74-6223-4E40-8297-52C3656D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43475"/>
            <a:ext cx="76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复盘 Agent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E8F469C-1B1D-4B6B-B81F-41D8D90D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339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沉淀规则和门禁阈值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40EC311-F376-4DD0-9B8C-BCB0BD21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009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998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执行原则：低风险快速通过，高风险自动加严，严重风险必须形成“技术证据 + 业务验收 + 发布预案”后才能进入下一阶段。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995723-14FE-4766-94B8-B3C29C82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E0CB73-3BE5-4DFA-BA47-7C6E13BC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103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Coding 时代沃尔玛电商质量保障体系演进 | CTO Review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5E328CF-21F8-45F7-BC0A-9F7CEDE9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01760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E8D865-BA81-4F93-ADBC-99C2A0A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3EEE1-A1D4-40C1-8F15-F385A659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02 | 业务落地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3E817-6D9A-4C84-873B-9CFB4917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3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3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沃尔玛订单交易核心链路：用一个高风险 PR 跑通质量闭环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2042E-77A0-4FC9-A3FB-5DC31CD3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场景只使用当前业务真实优惠类型：全场券 + 商品券，验证优惠计算、库存锁定、支付前金额一致性和异常回滚。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8E0D8-73DF-4BB2-B23E-58284331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53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4A66A-B859-4D7C-93ED-D247EB8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选品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CFEB3-0954-485E-A1A1-083A6AFD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商品券命中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3C384-91EB-4D80-9F6F-95B82CE0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943100"/>
            <a:ext cx="4381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91C85-1747-4BE9-AE87-775C1A59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811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53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51340-D346-4FEA-8DF3-2EA7D7D5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526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结算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F236E-0624-4944-AA9E-F0FD96C3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383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全场券叠加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29C89-BE3B-4E80-804B-887ED533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43100"/>
            <a:ext cx="4381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D1BA2-EB70-4856-89E7-003DE8AB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811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53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08B27-3789-4DE5-A0C0-76B01452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526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锁库存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E63AD-FA45-4359-88EE-198F9334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并发/超卖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0B06D-A203-4BAD-A616-5BDE9437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4381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5F01F-3EFA-4D4F-B187-475700D1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53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6CF4F-A780-4909-9808-32968670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支付前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719D9-0517-4041-85FA-81850E46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金额一致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C2E44-4394-482C-B569-4B317118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4381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AAE43-EEA5-49EE-8BB0-D78E5239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811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53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D8B9E-4F7E-4C35-A25E-0D7F1FC4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526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支付后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DDCEF-F6C9-4BF5-9CD8-67E3E0FA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383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履约/释放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C80D8-9180-4523-B17D-4BFF86E9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3219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8D7F79-6CD4-447D-B3B1-FDD6A210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762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461441-9983-4F98-A793-B2426CED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876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高风险 PR 触发条件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36E6C9-0630-4B68-A8DD-C03C1881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609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改动优惠计算、订单金额、库存锁定、支付前校验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645316-DB7D-43F7-970B-09B9BA50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2609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AI 代码触达核心链路，且覆盖率/用例证据不足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B4338E-36A1-474D-B509-99FCF0D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609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影响全场券与商品券叠加、退款、支付失败释放库存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9A6AB2-F638-4DA1-9DB2-27EF89E6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609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历史遗留缺陷或线上异常集中在相同模块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709BBE-7F42-4E93-82A3-7F86C1FB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81300"/>
            <a:ext cx="3219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59F67B-A671-4DE3-9073-4B7E151F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81300"/>
            <a:ext cx="4762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E43CF-899F-4E2E-A17A-4832B521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2876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自动化与 AI 执行动作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B04630-FBC5-41BC-8D1C-C73B2B6B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19450"/>
            <a:ext cx="2647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Diff Agent 输出风险等级、影响链路与必须验证点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1A615C-2A4D-4879-AC01-B019495A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2647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数据银行构造商品券、全场券、库存边界数据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F0398F-986A-4FC4-BA34-6B3FE2D6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647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自动化框架选择优惠组合、库存并发、支付回滚集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5CD895-4AD0-4B2A-B5F2-53A975E0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91000"/>
            <a:ext cx="2647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性能/混沌平台验证下单、结算、库存服务降级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90E8E8-7495-455C-ADBF-8649B859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219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FAFE05-FD25-4E02-8DB9-D7C4525A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4762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C71574-064A-4281-960E-EE204DD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2876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门禁放行证据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0429B5-85D8-454F-A15A-D9FCDF83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2628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Sonar 无阻断问题，单测覆盖率不下降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1CDC6A-00F3-45B9-A1CE-C1643332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2628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核心接口自动化通过，关键接口响应时长未劣化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386987-C017-4D81-9947-3BB57D80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67150"/>
            <a:ext cx="2628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优惠金额、库存状态、支付金额三方一致性验证通过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5E2214-E28D-4A2C-B71E-E73F7173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91000"/>
            <a:ext cx="2628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UAT 确认业务规则，并形成发布监控/回滚预案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3A2298-DB4E-41C1-A218-758D58D2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0191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B6B5FB-856F-4601-BC07-433E8878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AI CFR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2D7ACF-D10F-47C4-89AD-77EEFD9B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69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AI 变更失败率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B629F4-35BB-48F9-873C-0C7D3E98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按模块与模型来源追踪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6E9C92-9A22-4CBD-89F0-F129FE31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81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Escape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7FF8FA-CDA1-4C04-979B-293EED4B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8674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69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缺陷逃逸率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1D9C88-83E7-4FCD-B8DA-4C238932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03885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测试遗漏进入线上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021FC5-DF4B-40DC-9E0B-CE43732D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81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P95/P99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975AAF-06B5-46B8-B30D-DC1F5196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8674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69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核心接口时延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B81115-7703-4F2B-A6C4-72E6037F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3885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结算/下单/支付前校验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5B5A12-C9E0-4FB4-9B47-A9725428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81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Coverage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886A00-DDBC-4837-8689-E8CCF645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8674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69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自动化覆盖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2EECD2-0786-4315-A39A-4BAD74AD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3885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接口、E2E、契约覆盖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AD3B5E-F28B-40F5-B39F-41EB560A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81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rPr>
              <a:t>Debt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56053D-DDC0-4BB4-8CDD-35230607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674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698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遗留缺陷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418E1B-96EE-40E3-8D33-C87371D1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3885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高风险模块清零策略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F5648B-D594-4C2E-B131-422BD9FB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914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C220"/>
          </a:solidFill>
          <a:ln xmlns:a="http://schemas.openxmlformats.org/drawingml/2006/main" w="9525">
            <a:solidFill>
              <a:srgbClr val="FFC22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40B669-FC8D-4BF4-B3ED-F1FCD5B5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724525"/>
            <a:ext cx="76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CTO 看板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899901-9CDA-46D2-A2BB-03A5D2B0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962650"/>
            <a:ext cx="1200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按风险看交付质量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C987D0-CA61-492E-9633-B9A8EC6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83A26A-19BB-4C26-94C3-8D071FF6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103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Coding 时代沃尔玛电商质量保障体系演进 | CTO Review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FE5B80-58D1-4F88-A5BE-C1516A71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3542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2026-06-10T10:19:51.1800000Z</dcterms:created>
  <dcterms:modified xsi:type="dcterms:W3CDTF">2026-06-10T10:19:51.1800000Z</dcterms:modified>
</coreProperties>
</file>
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96d5a86c364f50" /><Relationship Type="http://schemas.openxmlformats.org/officeDocument/2006/relationships/extended-properties" Target="/docProps/app.xml" Id="Rb05ebc341e504e68" /><Relationship Type="http://schemas.openxmlformats.org/officeDocument/2006/relationships/officeDocument" Target="/ppt/presentation.xml" Id="Rceb6bde974d84a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2c0b620ff844d9"/>
  </p:sldMasterIdLst>
  <p:notesMasterIdLst>
    <p:notesMasterId xmlns:r="http://schemas.openxmlformats.org/officeDocument/2006/relationships" r:id="R49765145d0734426"/>
  </p:notesMasterIdLst>
  <p:sldIdLst>
    <p:sldId xmlns:r="http://schemas.openxmlformats.org/officeDocument/2006/relationships" id="256" r:id="R815cea83f51d4a87"/>
    <p:sldId xmlns:r="http://schemas.openxmlformats.org/officeDocument/2006/relationships" id="257" r:id="R4a1fa21282e54673"/>
    <p:sldId xmlns:r="http://schemas.openxmlformats.org/officeDocument/2006/relationships" id="258" r:id="R023643b8bbe140f8"/>
    <p:sldId xmlns:r="http://schemas.openxmlformats.org/officeDocument/2006/relationships" id="259" r:id="R162bd46c5d3949ab"/>
    <p:sldId xmlns:r="http://schemas.openxmlformats.org/officeDocument/2006/relationships" id="260" r:id="R6e2eb823b63c43f2"/>
    <p:sldId xmlns:r="http://schemas.openxmlformats.org/officeDocument/2006/relationships" id="261" r:id="R75e549e68d9e439b"/>
    <p:sldId xmlns:r="http://schemas.openxmlformats.org/officeDocument/2006/relationships" id="262" r:id="Rb0858447a8704eaf"/>
    <p:sldId xmlns:r="http://schemas.openxmlformats.org/officeDocument/2006/relationships" id="263" r:id="Rc5c0a0294f9245ce"/>
    <p:sldId xmlns:r="http://schemas.openxmlformats.org/officeDocument/2006/relationships" id="264" r:id="Rbecfb2836fbd465c"/>
    <p:sldId xmlns:r="http://schemas.openxmlformats.org/officeDocument/2006/relationships" id="265" r:id="Rc4110d60a4db41d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09f02fc3a843ad" /><Relationship Type="http://schemas.openxmlformats.org/officeDocument/2006/relationships/slideMaster" Target="/ppt/slideMasters/slideMaster1.xml" Id="R0f2c0b620ff844d9" /><Relationship Type="http://schemas.openxmlformats.org/officeDocument/2006/relationships/notesMaster" Target="/ppt/notesMasters/notesMaster1.xml" Id="R49765145d0734426" /><Relationship Type="http://schemas.openxmlformats.org/officeDocument/2006/relationships/presProps" Target="/ppt/presProps.xml" Id="R83e539af59fd4bc0" /><Relationship Type="http://schemas.openxmlformats.org/officeDocument/2006/relationships/viewProps" Target="/ppt/viewProps.xml" Id="R2599febe713e4bf8" /><Relationship Type="http://schemas.openxmlformats.org/officeDocument/2006/relationships/tableStyles" Target="/ppt/tableStyles.xml" Id="Rd97c811cbd2f4e33" /><Relationship Type="http://schemas.openxmlformats.org/officeDocument/2006/relationships/slide" Target="/ppt/slides/slide1.xml" Id="R815cea83f51d4a87" /><Relationship Type="http://schemas.openxmlformats.org/officeDocument/2006/relationships/slide" Target="/ppt/slides/slide2.xml" Id="R4a1fa21282e54673" /><Relationship Type="http://schemas.openxmlformats.org/officeDocument/2006/relationships/slide" Target="/ppt/slides/slide3.xml" Id="R023643b8bbe140f8" /><Relationship Type="http://schemas.openxmlformats.org/officeDocument/2006/relationships/slide" Target="/ppt/slides/slide4.xml" Id="R162bd46c5d3949ab" /><Relationship Type="http://schemas.openxmlformats.org/officeDocument/2006/relationships/slide" Target="/ppt/slides/slide5.xml" Id="R6e2eb823b63c43f2" /><Relationship Type="http://schemas.openxmlformats.org/officeDocument/2006/relationships/slide" Target="/ppt/slides/slide6.xml" Id="R75e549e68d9e439b" /><Relationship Type="http://schemas.openxmlformats.org/officeDocument/2006/relationships/slide" Target="/ppt/slides/slide7.xml" Id="Rb0858447a8704eaf" /><Relationship Type="http://schemas.openxmlformats.org/officeDocument/2006/relationships/slide" Target="/ppt/slides/slide8.xml" Id="Rc5c0a0294f9245ce" /><Relationship Type="http://schemas.openxmlformats.org/officeDocument/2006/relationships/slide" Target="/ppt/slides/slide9.xml" Id="Rbecfb2836fbd465c" /><Relationship Type="http://schemas.openxmlformats.org/officeDocument/2006/relationships/slide" Target="/ppt/slides/slide10.xml" Id="Rc4110d60a4db41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893768232946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0826f222fe481c" /><Relationship Type="http://schemas.openxmlformats.org/officeDocument/2006/relationships/notesMaster" Target="/ppt/notesMasters/notesMaster1.xml" Id="Rac8facff956b4e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2618e7f0c6490f" /><Relationship Type="http://schemas.openxmlformats.org/officeDocument/2006/relationships/notesMaster" Target="/ppt/notesMasters/notesMaster1.xml" Id="R2a59501b096345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19cffbe44449c4" /><Relationship Type="http://schemas.openxmlformats.org/officeDocument/2006/relationships/notesMaster" Target="/ppt/notesMasters/notesMaster1.xml" Id="Rd7d190df72044f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688b9c70be4c7e" /><Relationship Type="http://schemas.openxmlformats.org/officeDocument/2006/relationships/notesMaster" Target="/ppt/notesMasters/notesMaster1.xml" Id="R762a58e4280a4e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f2c373c68a481c" /><Relationship Type="http://schemas.openxmlformats.org/officeDocument/2006/relationships/notesMaster" Target="/ppt/notesMasters/notesMaster1.xml" Id="R533dbcf70f2b45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2b606150bf45b2" /><Relationship Type="http://schemas.openxmlformats.org/officeDocument/2006/relationships/notesMaster" Target="/ppt/notesMasters/notesMaster1.xml" Id="R310dccec35554b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5713fbf1344717" /><Relationship Type="http://schemas.openxmlformats.org/officeDocument/2006/relationships/notesMaster" Target="/ppt/notesMasters/notesMaster1.xml" Id="R76e7629504cd4e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aa4bca1c46407b" /><Relationship Type="http://schemas.openxmlformats.org/officeDocument/2006/relationships/notesMaster" Target="/ppt/notesMasters/notesMaster1.xml" Id="Rfb431dc8856948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886e2eee2c41cf" /><Relationship Type="http://schemas.openxmlformats.org/officeDocument/2006/relationships/notesMaster" Target="/ppt/notesMasters/notesMaster1.xml" Id="R8c2c14bc5d6348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34dc46161e4e07" /><Relationship Type="http://schemas.openxmlformats.org/officeDocument/2006/relationships/notesMaster" Target="/ppt/notesMasters/notesMaster1.xml" Id="Rb16da4300b8449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34eb9ecd74b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6d75e0d22e4ec1" /><Relationship Type="http://schemas.openxmlformats.org/officeDocument/2006/relationships/slideLayout" Target="/ppt/slideLayouts/slideLayout1.xml" Id="Rada46fc9ca8d46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a46fc9ca8d46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2edbc50d44d95" /><Relationship Type="http://schemas.openxmlformats.org/officeDocument/2006/relationships/notesSlide" Target="/ppt/notesSlides/notesSlide1.xml" Id="R4faad74be57e43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e3bca59374228" /><Relationship Type="http://schemas.openxmlformats.org/officeDocument/2006/relationships/notesSlide" Target="/ppt/notesSlides/notesSlide2.xml" Id="R524ccc90f3b848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d03a1f12d4a61" /><Relationship Type="http://schemas.openxmlformats.org/officeDocument/2006/relationships/notesSlide" Target="/ppt/notesSlides/notesSlide3.xml" Id="R814b00bfd64f4a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3fb7062e6432a" /><Relationship Type="http://schemas.openxmlformats.org/officeDocument/2006/relationships/notesSlide" Target="/ppt/notesSlides/notesSlide4.xml" Id="R04b10811a48945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c5ff737d24272" /><Relationship Type="http://schemas.openxmlformats.org/officeDocument/2006/relationships/notesSlide" Target="/ppt/notesSlides/notesSlide5.xml" Id="R30ef19244bd44e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9f88968bb4cee" /><Relationship Type="http://schemas.openxmlformats.org/officeDocument/2006/relationships/notesSlide" Target="/ppt/notesSlides/notesSlide6.xml" Id="R0d4361c13ef14d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10725cca549f9" /><Relationship Type="http://schemas.openxmlformats.org/officeDocument/2006/relationships/notesSlide" Target="/ppt/notesSlides/notesSlide7.xml" Id="Rd6e0489ffb8b45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81da50ccc4d7f" /><Relationship Type="http://schemas.openxmlformats.org/officeDocument/2006/relationships/notesSlide" Target="/ppt/notesSlides/notesSlide8.xml" Id="R5e7c1ffcc0b04a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3ee87fbb74176" /><Relationship Type="http://schemas.openxmlformats.org/officeDocument/2006/relationships/notesSlide" Target="/ppt/notesSlides/notesSlide9.xml" Id="R85ff088172384c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22ef4a0734e0e" /><Relationship Type="http://schemas.openxmlformats.org/officeDocument/2006/relationships/notesSlide" Target="/ppt/notesSlides/notesSlide10.xml" Id="Rb0494c08827f4b2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FFB57D-1B14-491E-878C-94DCA7D2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18466-7979-4485-A738-680F0977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EC5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8EC5FF"/>
                </a:solidFill>
                <a:latin typeface="Aptos Display"/>
                <a:ea typeface="Aptos Display"/>
                <a:cs typeface="Aptos Display"/>
              </a:rPr>
              <a:t>CTO REVIEW DRAFT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4A1E8-34E8-40AA-8703-5DC2B6A1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7810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Coding 时代测试质量保障工作模式演进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A078D-4B75-48A4-A5E3-B6B3E602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基于现有数据银行、自动化、性能、混沌工程与质量指标，构建风险驱动、AI 辅助、UAT 闭环的质量经营体系。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A1D93-DBDF-4E7A-9353-2EBC0B4F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63C1E-D6BA-4505-A2C0-2C785ECF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276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风险驱动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A8AEB-0B56-4C4F-9DB1-E2F5C503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289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DE8CC-F673-411F-849C-273F70B2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1276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自动门禁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EEABA-4A0B-47E5-849C-0B62542B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289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72EC5-07B7-4136-BE08-1E36DE86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1276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辅助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40A82-EC83-4689-AD43-CFFB596F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289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F657E-06AD-403F-B3BF-471215E2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95625"/>
            <a:ext cx="1276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UAT 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4989A-42E8-4123-8F6F-7D673B2F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914400"/>
            <a:ext cx="3048000" cy="39052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817D2-84A4-48BD-934F-254BC3B1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335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EC5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EC5FF"/>
                </a:solidFill>
                <a:latin typeface="Aptos Display"/>
                <a:ea typeface="Aptos Display"/>
                <a:cs typeface="Aptos Display"/>
              </a:rPr>
              <a:t>8 阶段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A6F1E-1C73-4C4B-98B2-CABF2C15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716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SDLC 质量控制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9CEAA-526C-471A-B842-8FF5B1E4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需求到运行复盘，全链路证据化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B75DA-8B8E-46F4-8C93-8AF438EB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EF0D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8EF0D3"/>
                </a:solidFill>
                <a:latin typeface="Aptos Display"/>
                <a:ea typeface="Aptos Display"/>
                <a:cs typeface="Aptos Display"/>
              </a:rPr>
              <a:t>4 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52853-0EC4-49EB-B887-22D5329B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现有能力复用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21B46-CAAE-45DE-BF95-3BF6086E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数据银行 / 自动化 / 性能 / 混沌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DA087-B69B-4DCD-BEA0-80E623A5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D08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D08A"/>
                </a:solidFill>
                <a:latin typeface="Aptos Display"/>
                <a:ea typeface="Aptos Display"/>
                <a:cs typeface="Aptos Display"/>
              </a:rPr>
              <a:t>6 指标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9D125-4ED3-4751-AC58-69776F62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576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质量经营抓手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60E20-EC10-47CC-A053-46EE0B3D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862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Sonar、覆盖率、响应时长、缺陷、通过率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756CF-A6FE-4D6E-A8FB-4435DD0B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核心结论：测试团队从用例执行升级为质量门禁建设者和质量经营者，支撑 AI 代码规模化安全交付。</a:t>
            </a:r>
          </a:p>
        </p:txBody>
      </p:sp>
    </p:spTree>
    <p:extLst>
      <p:ext uri="{BB962C8B-B14F-4D97-AF65-F5344CB8AC3E}">
        <p14:creationId xmlns:p14="http://schemas.microsoft.com/office/powerpoint/2010/main" val="17899439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B2F463-C67F-4320-AECE-36C4CB2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898BF-9210-40F1-8BCF-1A141464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01 | 现状与挑战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845ED-BD23-4301-A99C-50D345E4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AI 代码产出提速，但电商交易链路质量风险同步放大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44137-4AED-4FCB-90FA-29755C84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挑战不是缺少工具，而是需要把已有平台和指标编排成统一质量门禁。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DE196-0D89-4DF3-9E46-164FA060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AI 代码量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B4338-B63D-491C-AF3B-01EDC10B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持续上升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6F15E-1DFD-4F2D-A311-82DAF542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人工 Review 与手工测试无法线性扩张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CBF83-0EE6-447A-A762-40321085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002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交易链路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07699-8781-4274-AFAD-0770420C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384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高耦合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A8062-0563-40D2-8621-4B88DFBA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670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优惠、库存、支付、订单状态、履约互相影响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40AFA-70E6-4175-8806-D73C9AB9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02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质量证据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6DC9F-CF42-49D6-B86C-0A8AB9D8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384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分散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7021F-C83B-4673-94B2-0CB835EF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数据、自动化、性能、混沌、指标尚未形成统一决策链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99FDF-F9D5-4155-AD07-10CD2F8E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952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949E5-4947-4141-8461-65DECA57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B3CC1-026F-4658-B239-D5CD24FD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AI Coding 新风险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32F39-B779-4665-B554-52D885D9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误解优惠/库存/支付规则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2CAE2-1CDE-47F7-96A4-0096ACA7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生成无效测试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83677-1463-40F4-9B57-B6B64BEC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遗漏异常与并发路径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6F9AB-0D53-4D6A-8016-9E38C379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86200"/>
            <a:ext cx="2952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A0DF62-1B0E-4216-8EFE-A8F660B8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8620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E87FA-EE41-46C6-9D9B-990F1D05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95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现有基础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1E0D0-9AC5-4419-B1DD-E8C4B7E5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434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数据银行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45523E-D9BE-4EDC-9D08-9F80816C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291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自动化框架、性能平台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F901E2-1580-49C4-BBBF-09E87C17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149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混沌工程与质量指标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13E41F-E96C-42DB-BD30-2F42D25A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86200"/>
            <a:ext cx="2952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8940BD-AEAA-4D78-B9BB-A92EFBF7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8620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98635C-053E-43F3-8733-25DC41DB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195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建设方向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016C12-07EA-45F6-ADA9-0A63B724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434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风险分级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94CA31-7998-4C8D-BC63-42911432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291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PR 自动门禁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52A579-BAA0-42CB-BC70-56507BF3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149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AI 分析 + UAT 验收闭环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7BFB6F-21C7-4940-9347-1EF72A03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CBCD5B-4374-4F62-A2A0-44874630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Coding 时代测试质量保障方案 | CTO Review Draft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E847A1-6099-4FD5-B713-040AE1CA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422736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555239-5757-438C-9F87-B8E2F1E7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2BAA6-4419-4FA2-8FAF-138877E4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02 | 工作模式演进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B4750-7942-421E-AADD-711DDDC7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测试团队从执行测试，升级为经营质量系统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B4B64-08F0-429E-9E0B-A423CC5A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未来测试价值在于把业务风险变成规则、自动化、AI 能力和线上闭环。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32054-ED07-46E6-9DE9-18D06798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09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FD1F9-95ED-448D-91C8-CC144932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1E35E-4530-4F2E-AE33-B4BE70E0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6220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过去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E5E1E-1095-4FA2-BC20-21FBE218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09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用例执行者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FAC9C-7805-44F8-8D57-9D1ADA1B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14600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需求后介入，手工写用例、执行测试、提交缺陷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810A1-A129-4F04-B9B7-836B6851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8607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99C99-2379-4DCF-B0ED-4FCEA1A5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009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C524E-D39D-4EC1-8E29-7E9E221C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A9AD2-6B0C-4498-833F-5DB4C7E4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5242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现在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583FC-87E0-4BE5-8C50-D16E533F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718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质量门禁建设者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9EF42-908A-4553-8ADA-867412D3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76650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在 PR 和测试验证阶段建立风险分级、自动化阻断和质量报告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408BC-5EAE-4B65-952B-91490588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D0285-B798-4FEC-BE24-92436EC1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1009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BCE5E-BCD6-4373-97B9-258210B6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B19309-849F-4F86-91E8-6642E845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68630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未来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F1688E-423E-4A6F-A3F1-A839F044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33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AI 时代质量经营者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10944-52FF-42D5-B6CB-7013284A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38700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编排 AI 测试智能体，经营核心链路质量指标，沉淀缺陷模式库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EAF835-2DF6-412A-9D10-0962AEE0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组织建议：测试负责人拥有风险模型、门禁策略、AI 测试 Prompt 和质量看板的治理权。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5BC7D-563C-4578-9702-9CE32B2D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E8D918-E656-43F2-8748-E1F628F5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Coding 时代测试质量保障方案 | CTO Review Draft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FE25AD-51E1-463A-A8BA-2919D945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60189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81A857-8492-4744-A880-647D7167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F136D-A69C-49BA-95EF-295BA436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03 | SDLC 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34758-E2D0-4743-AEC3-E95A4A8F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质量保障覆盖 8 个阶段，安全与供应链作为横向门禁贯穿其中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C4988-14DB-40CE-A0A6-8B3E7AB3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符合当前流程：测试验证后进入 UAT 业务验收，再进入发布。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C6245-05A7-4B8A-AA25-BF02AA04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06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C4FD2-4528-4441-BD4C-951A83B6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2261F-DC35-4022-8291-478C5284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24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14BFB-29D1-4834-99A4-8A8E2EC1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33600"/>
            <a:ext cx="106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8EFC4-4475-4F2D-993C-AA297B31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241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74F6D-828C-49A0-95C6-E153F0D4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24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97062-3B7D-43CD-8E41-1CAE6287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33600"/>
            <a:ext cx="106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BD3EC-9C1C-443F-A013-3A227780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241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AI 编码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8611B-313A-4996-9EFB-14020B81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47A91-7A59-4AC4-8FEC-D63A50DE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106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78400-3D0F-454E-A63C-A6346230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PR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E76AD-F3D1-4ED8-9396-FF83722B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24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1DE3C-4354-4DFE-8A29-7496472C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33600"/>
            <a:ext cx="106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2B641-32E9-4869-985E-B2CFBFF4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241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测试验证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92378-8068-449E-899F-B8C2AEB8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24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D15D4-C371-45FE-85E8-C9976D8B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33600"/>
            <a:ext cx="106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BA31D-9B83-4C2C-B87B-A1676D95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241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UAT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F21C5A-7AD7-4CCF-A5B8-8655860E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24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BA99F-583A-4640-9ADB-D956867A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33600"/>
            <a:ext cx="106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5A29D-BF01-4C3C-AC37-BDB9738E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41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发布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2BFA2B-62B5-47F4-9DDD-ED2F3954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24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BA40B3-6B7D-47DF-A255-0DC08F24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33600"/>
            <a:ext cx="106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F482AB-0334-43F3-99AF-36040353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241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运行复盘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C8B1FA-31CE-491A-B074-065A961F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971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5D728B-A53E-4306-A79E-BDDC8D1A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阶段质量动作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487FF5-65B4-4065-928D-F7C4A6CD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29025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需求验收标准、设计可测性、AI 修改范围、PR 风险分级、测试验证、业务验收、灰度发布、复盘沉淀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AC0BD4-6AB4-4B76-93F0-ADE966B9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971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725AA9-1BF0-40B2-B97F-16BDBAFD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横向质量门禁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9DCAB4-1CA8-40C3-B390-E895C3B4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71975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Sonar、密钥扫描、依赖风险、权限/越权、覆盖率、接口响应时长、性能、混沌、发布风险确认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34B7D1-9D21-4AC1-855F-BE673C9C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971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2564F3-BB96-4339-AE24-9411C9B3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244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质量证据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BE837E-EBE6-4FB8-87F6-E854BE6E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14925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PR 报告、测试报告、UAT 结论、扫描结果、性能报告、混沌验证、监控指标、复盘规则更新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CF6375-4602-4AF8-A880-8CE75AF1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702AF9-FCE4-49F5-B5E1-8DDE72BF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Coding 时代测试质量保障方案 | CTO Review Draft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252511-C561-4DA0-81DB-14C11DD0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96938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6E5454-5E7F-43C8-BBC5-C0BD7DAF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9CA1F-EC59-4743-8EF3-93E70D52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04 | 风险分级与门禁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9524F-C782-422C-B1ED-2B9C7327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风险等级决定门禁强度：不拖慢低风险，不放松高风险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96EFE-146F-4244-9B68-67D847D5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Coding 大量提交代码时，风险分级是 PR 门禁的第一步。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C8EB1-5A55-4845-A5CF-5490101B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2343150" cy="33337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1430">
            <a:solidFill>
              <a:srgbClr val="147A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6025D-E3FF-4449-A782-FB91B3CC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低风险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8E91C-5501-48A4-B906-07410C8A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文案、样式、非核心页面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7DF2F-8EB1-4010-8132-33FFAF61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Sonar 无高危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F4EAD-48A0-4DCB-9A47-79DC45C0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单测/快照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3E597-241E-4BEC-A9F6-7EF43646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人工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A350D-38C4-4E6C-BFC6-95046601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2343150" cy="33337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45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7E156-087A-448B-A790-4A49B016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中风险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0B05E-22B4-4B71-9810-00DB4B1D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普通接口、数据展示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ACE0B-A27B-4CEB-A3E4-A2595A01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接口自动化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2D395-5794-479A-9F0B-39A53A31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004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覆盖率不下降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059F6-DC11-4EC3-9BAA-9178D6CD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195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AI 测试建议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5EA0A-6531-47EA-9B4A-B69DE302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343150" cy="33337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B263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24508-3618-4D54-8992-62DF61DE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高风险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4BF26-48C3-4134-8D24-A45D1364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订单、优惠、库存、支付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345E1-E854-4424-A851-9354597D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E2E/契约测试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4F29B-A99F-4763-98C8-A6716F54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04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性能/混沌验证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B57C9-50AF-40A8-B3F1-8C368048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测试负责人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92BDB-8652-4EC4-A434-33C1898E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00250"/>
            <a:ext cx="2343150" cy="33337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11430">
            <a:solidFill>
              <a:srgbClr val="B423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F4AF7-FE53-40C5-BEA1-3FF6FC31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严重风险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F37F99-C1B2-418D-9113-9AAB5AA8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908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金额规则、批量数据、核心交易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A82D26-A47A-48ED-97FB-BAA24179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灰度+回滚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8CFB0B-EC8E-40C0-A95F-FC19AC4B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004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业务审批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3475D-A496-4F84-91A0-8B02DA9B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195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发布监控与应急预案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F2C7EA-298C-47C1-9E1A-063F9A52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1000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06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阻断示例：高风险 PR 缺优惠组合测试、库存并发测试、支付金额一致性测试、支付失败释放库存测试，禁止合并。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1837E5-7E4F-4387-B28B-1B3B34E3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359678-EAC3-496D-BA04-0D341F08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Coding 时代测试质量保障方案 | CTO Review Draft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903A24-D600-414B-8992-C7115905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68367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2EF965-C416-4ABD-9A07-1C9E4827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8D9B5-F27C-41A4-9F52-DD86EA2D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05 | 平台与指标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6F8CE-AE94-4476-84F8-A37A5DDC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复用现有平台能力，把工具结果沉淀为质量决策证据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03949-FDAD-4D96-B1BB-A8FF39A8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从“工具各自运行”升级为“统一质量门禁和 CTO 看板”。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BD2BF-F729-47D6-9D69-28B83D77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29632-B40F-467D-AD50-8484F35C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数据银行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647E3-1A1C-4383-B477-6191BBF8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240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构造用户、商品、库存、全场券、商品券、订单、支付、退款数据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BFCAE-2F8D-4583-9250-D19AD471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621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61EF9-F99D-48E7-8357-FB7DAE88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33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自动化框架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01335-04DC-469B-BC0C-375F166B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240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接口自动化、核心链路回归、批量回归执行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E7511-32C2-43FB-A8FC-EA7D6F5D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DCFFC-A717-44C4-ADDC-3D329F19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性能测试平台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3550A-8E3B-4360-9409-48119526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004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核心交易接口 P95/P99、容量评估、峰值压测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BDE98-CD76-4956-A97D-15D8CE64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9DE81-D18F-437B-A60F-A44D5C16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09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rPr>
              <a:t>混沌工程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86EF1-8B15-4270-9B3D-5409C6CC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004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服务超时、消息延迟、支付回调异常、补偿恢复验证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F829E-B32D-4FAD-BCDB-64D3987F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9810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638586-0764-4E89-9A01-DA681726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质量指标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8CA55-3FE9-4E82-B42D-66039C4C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720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Sonar 扫描 / 单测覆盖率 / 接口自动化覆盖率 / 接口响应时长 / 遗留缺陷 / 测试用例通过率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1F35B-0556-4B84-91BE-7B9B7948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721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建设重点：把每个工具输出转化成 PR、UAT 准入和发布准入的可执行门禁。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C6C2F2-392D-4C1C-814F-EDFB24B7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8BA05-4EBF-4C5C-A385-AD014AFD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Coding 时代测试质量保障方案 | CTO Review Draft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700086-FCAD-4682-AB10-B9CF6484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331669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C0EFFD-B635-419B-9F16-B1D0ED34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80B63-149A-4937-AFAC-756A9841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06 | 沃尔玛交易链路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9CBC5-18BD-4169-93B7-81FF43D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AI 修改全场券 + 商品券优惠计算、库存锁定、支付前校验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13791-B2B3-435C-B73E-FBD1FAA7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这是高风险交易变更：涉及金额、优惠、库存、支付、订单状态、退款和履约。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17FC7-C217-485E-ADFB-FAFCAC45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B9AF1-7A7D-4CF2-AA2E-40EFF7E8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登录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FE4ED-E5B3-4C87-A4A9-0711F08E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764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8164C-0555-4AFB-910A-9C6DA3BB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4310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B428A-2CF3-42C4-A063-7E09A45A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955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商品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71310-583D-4835-A9BD-759AB3C9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764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C33D1-EECA-4DA3-A7CD-034E657E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4310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75063-99F6-422D-AC08-07F9DF30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955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购物车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EA656-5675-497C-9396-89BDC3E2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764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E37A3-7C73-48FA-9E50-0205F349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4310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DE404-A895-47E2-A4B1-B46547F9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优惠计算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64475-4B71-41D6-9A21-FED0BF2F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764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2BD59C-1C15-4D03-A0F5-1677F3BD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4310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B45A0-C1D8-4B5C-819F-EBE087E7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955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库存锁定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58D19-CC06-420A-839D-E6392AD6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55751D-624B-47B7-9497-36385712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D1055-56BB-48F4-AE3C-FFEB5839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创建订单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A7B64-1A99-420B-9E2A-B659B602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D0D8E6-5119-4D37-8AA4-5C626E38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4310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233F8-1A8C-423F-A7C6-1EED7A49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支付校验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88A1A2-AFFB-4107-B987-6CEF3540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13273-6612-4C77-9B60-41E7615C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B421FF-A3D2-4065-93DE-800D7012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955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支付回调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8A5756-B349-4D90-9A11-89AF6EC9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764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EC18EF-A0AF-428A-B158-894C7D3C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4310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E2FCF9-3D17-4944-8446-4B76A3E2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0955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履约/退款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83A210-9B79-49BF-A4DE-423D025A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667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D14B3E-B8AE-4962-A676-F0A7EF81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业务规则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665861-E459-48F4-925B-814BF4F6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390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全场券作用于满足条件的订单整体金额；商品券只作用于指定商品或范围；部分商品不参与优惠；全场券与商品券是否叠加必须遵循当前业务规则；优惠后订单金额不能小于 0。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C74ED6-30C0-468C-A510-BB5961DC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52750"/>
            <a:ext cx="4667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91E841-3709-4C5D-A704-01382435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风险影响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6EFF94-B793-445D-951C-04B945CF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62350"/>
            <a:ext cx="390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库存锁定必须在支付前完成；支付金额必须与订单应付金额一致；支付失败或超时释放库存；支付回调延迟不能导致订单状态错误；退款需按实付金额和优惠分摊。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51AF12-AE0E-4EFD-999D-D688761F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FFF0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8E52AA-1C70-4D7B-8016-D6D51ED2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5307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高风险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ECD631-50F2-4045-A9E5-CFF05B1A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864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EB2DB8-D85C-457E-AFF3-04B33805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5307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可能资损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32DFD4-D6FF-4512-8210-05290FDD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864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FFF0E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48CFBD-0DF8-4E49-AA0B-19D27170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5307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可能超卖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A2AA90-7B73-43A7-A6B4-93098940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86400"/>
            <a:ext cx="1295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F6DFF2-E0D6-4E54-8236-B97D8771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53075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订单状态异常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171786-B12D-49E9-BCF1-43AC076A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20D5C3-7749-4C7D-91BE-29102824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Coding 时代测试质量保障方案 | CTO Review Draft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58B89F-C3A0-4419-8667-2984018D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52182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C62035-46F8-4489-97DA-24DF82D8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8BA4E-9B20-4F0E-A03F-780D1670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07 | Case 质量保障闭环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5A585-7F8C-40A2-85DB-E9B99F90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用现有平台把沃尔玛交易变更转化为可执行质量证据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25AD6-4A56-414E-9880-55C06D78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覆盖 PR 门禁、测试验证、UAT 业务验收和发布后监控。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BD2F2-645C-4171-BE8C-1CF5FA5B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2400300" cy="30099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04D5A-1696-4487-A673-7B88FA84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47625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97701-AC00-4CA2-AE44-C14946E1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数据银行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C3FB1-3DFC-4A77-A3F3-1A89ACAC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全场券 / 商品券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FA77E-3B81-4F8F-A0B1-E0E6F440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不参与优惠商品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78AF1-694A-4D10-94CB-2EBD9D75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库存临界商品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F81D0-413E-4602-95D8-4E2E2BF7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242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支付失败/超时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0A230-3D15-41A9-A554-68CC8DEE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部分退款/全额退款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47133-6CDD-4EE7-8ABE-A4F044D5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85950"/>
            <a:ext cx="2400300" cy="30099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B96C3-75E0-475E-AE49-D8F14F6A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85950"/>
            <a:ext cx="47625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DFEFD-D326-4F4C-9024-6CB4457A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自动化框架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993B8-6042-4AEE-BA31-604718A1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241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优惠计算接口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896E7-0F52-4764-A91A-09A6574D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574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库存锁定接口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1E877-43E4-4102-94ED-FCAA335D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908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支付前校验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368C8-ABBA-403F-B7E2-AAF8365C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242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支付回调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87C0EF-48A5-42F9-AC0A-DBC8852C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576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订单状态/退款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4EF1C-33B0-4822-BF77-33D57317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2400300" cy="30099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B8FC5-2B9C-463C-A2A2-502F44E7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47625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C046B-A2E2-4D0B-BAD8-4AF35277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193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性能 + 混沌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BC5740-92C0-43CF-95A1-2671570C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241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优惠计算 P95/P99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254170-1DB6-4B0D-A775-5A3FC0E5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574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库存锁定并发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07B427-4F43-418F-8F82-BE9617A2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支付服务超时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8E34BA-7721-4D28-9D6C-C9004C07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242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回调延迟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EDB33-B17D-4C34-8AE1-EF538640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576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消息队列延迟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9AB0FE-D401-4663-BF57-E352E41E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400300" cy="30099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D03835-A11E-435E-A4B1-02026BB1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47625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6FB892-91E6-4827-ABA2-B8EB5B2A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193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AI + PR 门禁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7000E0-A101-4486-8568-524E2C39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241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AI diff 影响分析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7D1B2-4487-4CA5-9208-48E0E4C0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574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回归范围推荐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7CD256-34D7-46B9-9370-161581DA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Sonar/覆盖率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233E0B-0B9B-40C1-A5FD-359D2B69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242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遗留缺陷检查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30FB0D-7E4F-49A2-999D-2AC1F9ED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5760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证据不足阻断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F7507C-6AC5-4A65-8FE3-23E5BF31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90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83B17E-3012-406E-BC81-F9A44569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9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UAT 重点：业务方确认全场券/商品券规则、不参与优惠商品、订单金额展示、支付失败提示、退款分摊和订单状态展示。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FFE74B-6B57-4240-92F3-56D10D83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ED8441-E755-4C38-A9A7-0801AA99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Coding 时代测试质量保障方案 | CTO Review Draft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2DF0E0-8FCF-45C2-AEA1-CF88E289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83491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B8A54D-9DBA-4877-A0AE-2B24FC2A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F75B2-E49F-46BE-AEF0-481566D7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08 | CTO 质量看板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3CEE6-3021-4768-90A5-1B27E8C7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用指标驱动质量经营，而不是只看测试是否完成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B60FD-A982-48D9-974F-D9C8927A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质量指标要能回答：风险是否可控、能否合并、能否 UAT、能否发布。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07FE9-DAE3-40D8-9D3B-289C4E64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Sonar 高危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5D301-CE32-4C74-8179-D362C4C0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代码风险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C9716-B419-40F0-B14E-1D8112B4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Blocker/Critical/Major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971DA-6E20-4570-BDB8-C6795663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单测覆盖率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98084-E631-4898-8296-6A8A3BBA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384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代码基础保障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C4C07-CD09-4070-A41F-AAC5AABA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67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核心模块优先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7D344-497D-4BD6-B672-DE2964E9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接口覆盖率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F3696-976F-4D1A-B3C4-8A4D03FD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384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行为验证程度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E4377-73B8-499A-80DD-18692D07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67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订单/优惠/库存/支付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3A65F-F221-48CA-908B-4FFDCDCE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P95/P99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81F83-D220-420E-BFF7-73004F3F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384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用户体验和容量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2C9FD-F410-4B79-97D6-39BBC7C9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67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核心交易接口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FAFD6-EDA0-4F68-A294-ADCB7763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遗留缺陷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29D8D-62A3-471C-92E8-FED43D35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质量债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DC3ED-30F1-4899-AFFD-D7C4ABB9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影响高风险发布决策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98212B-A066-415D-A893-8EE15C6A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195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6E3CB4"/>
                </a:solidFill>
                <a:latin typeface="Aptos Display"/>
                <a:ea typeface="Aptos Display"/>
                <a:cs typeface="Aptos Display"/>
              </a:rPr>
              <a:t>用例通过率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3BC8F-C3B6-49F3-B718-CD4447F9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57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版本稳定性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450A6-3F9D-4817-9E43-0BA80040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86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低于阈值进入风险评审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0D6C8E-55B0-4038-BF7B-7DF3F624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195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缺陷逃逸率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E92594-C4D3-49E8-B7B2-BFDFB86E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57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线上质量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83A5B-D8FC-425A-9E9B-EB9F91FC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86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复盘反哺门禁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0AD87-51BE-4A5A-BDBC-9A6CEE1D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195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AI 变更失败率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4E4DD0-973F-4B06-B71A-2668B281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576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AI 质量成熟度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950B64-E316-48C8-8828-38423D5B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和门禁迭代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10E61D-3381-4869-8A87-2E60FC8D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建议：将指标分层用于 PR 准入、UAT 准入、发布准入和线上复盘，形成统一质量经营视图。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780A87-F9BF-4723-9E04-1C8D2E78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ED936F-D34D-496D-AA5B-2C7DE602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Coding 时代测试质量保障方案 | CTO Review Draft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0FA8B0-D671-4BE9-B4C7-3F4EC0EE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143688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B97973-756A-4471-AC54-D9B2DC18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47114-52F6-44F9-90A1-A78F58C8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09 | 落地路线与决策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D03A0-EEE5-497B-8210-EF2014DD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建议分 4 步推进：先规则，再整合，再智能化，最后质量经营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0F31C-F709-4456-A5E1-04F3E190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用现有平台先跑通高风险交易链路，逐步扩展到全域研发流程。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6613F-39D7-4AD6-91A7-7B850FC2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2343150" cy="23812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05AF7-454C-4319-A39B-CD800D8D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85950-6B2F-4DC4-BFB9-B6FCED1B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0-3 个月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9BB2B-933E-4BD3-A797-A03140CF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规则和 PR 门禁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337F2-1D74-4BB9-9047-FE82B8B8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AI 范围必填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6278D-9E45-4F81-AD87-20A63B7A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风险等级必填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95C1E-3FBB-4D5D-85A7-612AB8FE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高风险测试负责人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C1562-2A8D-48BE-A98E-E730ADF4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57400"/>
            <a:ext cx="2343150" cy="23812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5F0DD-3AB0-4712-BCBA-A36E33BD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574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1C99B-C9CC-4A7C-B90C-B28165E7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3-6 个月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52F1A-7C58-43BF-BE12-A5B101B2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工具平台整合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A4FB5-F293-4E4E-A9A8-7C95E63B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数据银行模板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118FD-85AF-48E5-9ABD-F5751E90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29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自动化/性能/混沌接入门禁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A7DAB-A176-46FF-837D-922FBA56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10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指标统一报告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67947-97D6-48E6-897B-00C77CD4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57400"/>
            <a:ext cx="2343150" cy="23812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C2A7BE-141A-4E31-8CE3-65072B98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574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6CC761-FF9E-4BA8-A7F7-144C327A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6-12 个月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437033-946B-416E-AB1F-A6D4872F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146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AI 测试分析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090368-13EB-4078-9339-CE74013D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48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AI diff 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D87637-E1B1-433C-B057-2ADD5900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回归范围推荐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AD2F6-BC87-4534-9A63-F95DECAD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10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日志归因与质量报告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548478-4B4A-4BBA-8AEC-C4A3628B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57400"/>
            <a:ext cx="2343150" cy="23812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BD8748-B510-49DC-B532-C833E022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574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9840C9-297C-4060-9BBC-12567B32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12 个月后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1F6361-B06B-46F5-A056-03CF422B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质量经营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B7AC3E-A6EC-436F-9A82-847C2D60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48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CTO 看板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5918CA-7F6E-4ACE-B28E-0A9BC8E8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缺陷模式库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416A9E-AB52-4D8C-8D63-3A3A990A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业务风险图谱和智能调度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2F6254-B36B-433C-A32E-52BF1E07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981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99E829-2A1A-4CC2-BAFE-7018D636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14950"/>
            <a:ext cx="914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CTO 决策建议：流程纳入、平台投入、组织授权、指标治理。先以订单交易链路试点，再扩展到全域 AI Coding 质量门禁。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E042E9-9E41-4930-A266-79DA235C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53689E-245A-424E-B871-14CBF9EB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90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Coding 时代测试质量保障方案 | CTO Review Draft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4AFEF6-62ED-4765-9CC9-8F00316C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3388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2026-06-10T09:55:48.2930000Z</dcterms:created>
  <dcterms:modified xsi:type="dcterms:W3CDTF">2026-06-10T09:55:48.2930000Z</dcterms:modified>
</coreProperties>
</file>
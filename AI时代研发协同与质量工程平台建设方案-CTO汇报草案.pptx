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dcd033cdfb406b" /><Relationship Type="http://schemas.openxmlformats.org/officeDocument/2006/relationships/extended-properties" Target="/docProps/app.xml" Id="R678210a63c94469b" /><Relationship Type="http://schemas.openxmlformats.org/officeDocument/2006/relationships/officeDocument" Target="/ppt/presentation.xml" Id="R05e25748e51049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0f027c0fcd4bd6"/>
  </p:sldMasterIdLst>
  <p:notesMasterIdLst>
    <p:notesMasterId xmlns:r="http://schemas.openxmlformats.org/officeDocument/2006/relationships" r:id="Re221f1c5640c475d"/>
  </p:notesMasterIdLst>
  <p:sldIdLst>
    <p:sldId xmlns:r="http://schemas.openxmlformats.org/officeDocument/2006/relationships" id="256" r:id="R0407e7963b3c4778"/>
    <p:sldId xmlns:r="http://schemas.openxmlformats.org/officeDocument/2006/relationships" id="257" r:id="R0a029c7e09d244d0"/>
    <p:sldId xmlns:r="http://schemas.openxmlformats.org/officeDocument/2006/relationships" id="258" r:id="R966f895f9e1e4b8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e5252fe4104810" /><Relationship Type="http://schemas.openxmlformats.org/officeDocument/2006/relationships/slideMaster" Target="/ppt/slideMasters/slideMaster1.xml" Id="R2a0f027c0fcd4bd6" /><Relationship Type="http://schemas.openxmlformats.org/officeDocument/2006/relationships/notesMaster" Target="/ppt/notesMasters/notesMaster1.xml" Id="Re221f1c5640c475d" /><Relationship Type="http://schemas.openxmlformats.org/officeDocument/2006/relationships/presProps" Target="/ppt/presProps.xml" Id="Re1a79ee20b114265" /><Relationship Type="http://schemas.openxmlformats.org/officeDocument/2006/relationships/viewProps" Target="/ppt/viewProps.xml" Id="Rf410630bdd9c4040" /><Relationship Type="http://schemas.openxmlformats.org/officeDocument/2006/relationships/tableStyles" Target="/ppt/tableStyles.xml" Id="Rb2af6959c2b8422d" /><Relationship Type="http://schemas.openxmlformats.org/officeDocument/2006/relationships/slide" Target="/ppt/slides/slide1.xml" Id="R0407e7963b3c4778" /><Relationship Type="http://schemas.openxmlformats.org/officeDocument/2006/relationships/slide" Target="/ppt/slides/slide2.xml" Id="R0a029c7e09d244d0" /><Relationship Type="http://schemas.openxmlformats.org/officeDocument/2006/relationships/slide" Target="/ppt/slides/slide3.xml" Id="R966f895f9e1e4b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1403b1804a40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776106ef1a4d2c" /><Relationship Type="http://schemas.openxmlformats.org/officeDocument/2006/relationships/notesMaster" Target="/ppt/notesMasters/notesMaster1.xml" Id="R1423263d72414d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c3d70aca4b485a" /><Relationship Type="http://schemas.openxmlformats.org/officeDocument/2006/relationships/notesMaster" Target="/ppt/notesMasters/notesMaster1.xml" Id="R0cf8449600e049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f3f0f19c5e42d3" /><Relationship Type="http://schemas.openxmlformats.org/officeDocument/2006/relationships/notesMaster" Target="/ppt/notesMasters/notesMaster1.xml" Id="R86c9b48d40204e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62108313b747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7cba3167814048" /><Relationship Type="http://schemas.openxmlformats.org/officeDocument/2006/relationships/slideLayout" Target="/ppt/slideLayouts/slideLayout1.xml" Id="Rfdd5142f3add4d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d5142f3add4d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12576a5dab4c2d" /><Relationship Type="http://schemas.openxmlformats.org/officeDocument/2006/relationships/notesSlide" Target="/ppt/notesSlides/notesSlide1.xml" Id="Rc0741c535a144d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65a099ed54a70" /><Relationship Type="http://schemas.openxmlformats.org/officeDocument/2006/relationships/notesSlide" Target="/ppt/notesSlides/notesSlide2.xml" Id="R7bb0721341f64f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c7f238ac046a7" /><Relationship Type="http://schemas.openxmlformats.org/officeDocument/2006/relationships/notesSlide" Target="/ppt/notesSlides/notesSlide3.xml" Id="Rcab8205e49a043f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A12692-14D7-459D-BED4-B5FBD0DB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0ECCD4-A585-4FD0-937C-67C1B6B8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9EC9FF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9EC9FF"/>
                </a:solidFill>
                <a:latin typeface="Aptos Display"/>
                <a:ea typeface="Aptos Display"/>
                <a:cs typeface="Aptos Display"/>
              </a:rPr>
              <a:t>CTO REVIEW DRAFT | WHOLE-R&amp;D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0B503C-9525-4D4E-A2D4-2E464021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时代研发协同与质量工程平台建设方案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925AF-B723-476F-8C1B-83D1E807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1200"/>
            <a:ext cx="7620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D7E3F5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D7E3F5"/>
                </a:solidFill>
                <a:latin typeface="Aptos"/>
                <a:ea typeface="Aptos"/>
                <a:cs typeface="Aptos"/>
              </a:rPr>
              <a:t>老板的核心诉求不是“QA 怎么测试 AI 代码”，而是让产品、研发、测试、发布、业务验收在同一平台上协同，让 AI 带来的效率增益不以质量和稳定性失控为代价。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F017F5-8997-41AA-AD8A-A19DE3E1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10668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20345D"/>
          </a:solidFill>
          <a:ln xmlns:a="http://schemas.openxmlformats.org/drawingml/2006/main" w="9525">
            <a:solidFill>
              <a:srgbClr val="20345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83F814-F2D9-4718-91C8-AD333CB7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67025"/>
            <a:ext cx="914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2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流程协同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7EA4C3-D640-45FF-AEB9-15D57482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800350"/>
            <a:ext cx="10668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20345D"/>
          </a:solidFill>
          <a:ln xmlns:a="http://schemas.openxmlformats.org/drawingml/2006/main" w="9525">
            <a:solidFill>
              <a:srgbClr val="2034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70C5C2-A064-4B07-AF05-082373E8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67025"/>
            <a:ext cx="914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2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工具协同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652DAC-DAD6-4F2A-AB3C-BD12E948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00350"/>
            <a:ext cx="13906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20345D"/>
          </a:solidFill>
          <a:ln xmlns:a="http://schemas.openxmlformats.org/drawingml/2006/main" w="9525">
            <a:solidFill>
              <a:srgbClr val="20345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FF7C31-F285-4FE1-8665-A11C074E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67025"/>
            <a:ext cx="1238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2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Agent 协同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9ADC5-DB2E-4B1D-B00D-35B2CACC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13906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20345D"/>
          </a:solidFill>
          <a:ln xmlns:a="http://schemas.openxmlformats.org/drawingml/2006/main" w="9525">
            <a:solidFill>
              <a:srgbClr val="20345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4FB424-DB52-4BC6-A2D9-108DDDEE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67025"/>
            <a:ext cx="1238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2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质量风险治理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0D49FF-7EFB-4CC3-9B46-5CF67692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00350"/>
            <a:ext cx="10668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20345D"/>
          </a:solidFill>
          <a:ln xmlns:a="http://schemas.openxmlformats.org/drawingml/2006/main" w="9525">
            <a:solidFill>
              <a:srgbClr val="20345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267693-AA41-4846-9BC4-AA1B290C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67025"/>
            <a:ext cx="914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2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研发经营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A7C8A0-0876-49FF-A679-72C84349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00450"/>
            <a:ext cx="22098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11430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D03622-F012-4538-8239-CCA041B3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EC9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9EC9FF"/>
                </a:solidFill>
                <a:latin typeface="Aptos Display"/>
                <a:ea typeface="Aptos Display"/>
                <a:cs typeface="Aptos Display"/>
              </a:rPr>
              <a:t>过去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DBF82C-7D01-48FC-A172-AEEA6824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QA 后置验证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78FE54-32EF-4EB8-A63F-987DD570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7E3F5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D7E3F5"/>
                </a:solidFill>
                <a:latin typeface="Aptos"/>
                <a:ea typeface="Aptos"/>
                <a:cs typeface="Aptos"/>
              </a:rPr>
              <a:t>需求、开发、测试、发布割裂；风险在测试阶段集中暴露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DC7DFA-0D8E-4946-89A2-C681DD42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600450"/>
            <a:ext cx="22098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11430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47C5DE-0DDA-44AB-9962-385F6B6C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7909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EC9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9EC9FF"/>
                </a:solidFill>
                <a:latin typeface="Aptos Display"/>
                <a:ea typeface="Aptos Display"/>
                <a:cs typeface="Aptos Display"/>
              </a:rPr>
              <a:t>现在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D37265-AE8F-4BF1-8FFE-277D9CB8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957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工具平台分散支撑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975A58-8130-40D6-8CD8-B0B7E746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4577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7E3F5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D7E3F5"/>
                </a:solidFill>
                <a:latin typeface="Aptos"/>
                <a:ea typeface="Aptos"/>
                <a:cs typeface="Aptos"/>
              </a:rPr>
              <a:t>数据银行、自动化、性能、混沌、Sonar 等能力已有，但协同链路未完全打通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0850B9-7C55-4961-A5BC-273F2844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600450"/>
            <a:ext cx="22098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3763"/>
          </a:solidFill>
          <a:ln xmlns:a="http://schemas.openxmlformats.org/drawingml/2006/main" w="11430">
            <a:solidFill>
              <a:srgbClr val="FFC22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0173D3-6314-4488-B3DB-0F39789B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7909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C220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C220"/>
                </a:solidFill>
                <a:latin typeface="Aptos Display"/>
                <a:ea typeface="Aptos Display"/>
                <a:cs typeface="Aptos Display"/>
              </a:rPr>
              <a:t>未来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20429B-B851-4364-ADDA-4E449D33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0957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研发协同操作系统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64890B-BC28-45EB-9E1F-B7B01AD7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577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7E3F5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D7E3F5"/>
                </a:solidFill>
                <a:latin typeface="Aptos"/>
                <a:ea typeface="Aptos"/>
                <a:cs typeface="Aptos"/>
              </a:rPr>
              <a:t>平台编排流程，AI 辅助决策，证据驱动放行，持续沉淀组织知识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39BAAD-F0DC-4144-A653-C2506C7F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971550"/>
            <a:ext cx="2933700" cy="4457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79430F-9FF5-47F5-AAB6-988B38E1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27635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C22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C220"/>
                </a:solidFill>
                <a:latin typeface="Aptos Display"/>
                <a:ea typeface="Aptos Display"/>
                <a:cs typeface="Aptos Display"/>
              </a:rPr>
              <a:t>建设目标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FCEEEC-4625-4D84-8B33-C8A141E4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71650"/>
            <a:ext cx="2266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EC9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9EC9FF"/>
                </a:solidFill>
                <a:latin typeface="Aptos Display"/>
                <a:ea typeface="Aptos Display"/>
                <a:cs typeface="Aptos Display"/>
              </a:rPr>
              <a:t>1 条作业流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9A5BC8-06E5-4BFC-8716-34473843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52650"/>
            <a:ext cx="2266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需求到复盘端到端打通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2AF1EF-AAA1-4259-8071-976B9B2E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D7E3F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D7E3F5"/>
                </a:solidFill>
                <a:latin typeface="Aptos"/>
                <a:ea typeface="Aptos"/>
                <a:cs typeface="Aptos"/>
              </a:rPr>
              <a:t>统一入口、统一状态、统一证据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760385-BA86-49C9-893B-FCD14E00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57500"/>
            <a:ext cx="2266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EF0D3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8EF0D3"/>
                </a:solidFill>
                <a:latin typeface="Aptos Display"/>
                <a:ea typeface="Aptos Display"/>
                <a:cs typeface="Aptos Display"/>
              </a:rPr>
              <a:t>3 类协同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651CF4-D10C-4BD6-9735-5A758AF0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38500"/>
            <a:ext cx="2266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流程 / 工具 / 智能体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B6E04C-0A07-45BA-8F33-543DAD74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4805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D7E3F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D7E3F5"/>
                </a:solidFill>
                <a:latin typeface="Aptos"/>
                <a:ea typeface="Aptos"/>
                <a:cs typeface="Aptos"/>
              </a:rPr>
              <a:t>跨产品、研发、QA、业务验收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1216B1-0771-4D19-8BF5-F2616702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43350"/>
            <a:ext cx="2266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D98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D98A"/>
                </a:solidFill>
                <a:latin typeface="Aptos Display"/>
                <a:ea typeface="Aptos Display"/>
                <a:cs typeface="Aptos Display"/>
              </a:rPr>
              <a:t>1 个 cockpit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2135BC-783D-4396-A4E1-06E42C87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24350"/>
            <a:ext cx="2266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研发经营与风险决策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7B9CA4-7E78-4744-803A-ADA6D71C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3390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D7E3F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D7E3F5"/>
                </a:solidFill>
                <a:latin typeface="Aptos"/>
                <a:ea typeface="Aptos"/>
                <a:cs typeface="Aptos"/>
              </a:rPr>
              <a:t>效率、质量、稳定性、成本统一度量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D57F95-7654-4193-87B2-CBBF51F6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核心结论：未来平台不是 QA 工具箱，而是面向全研发团队的协同生产系统，让每一次 AI 代码变更都可评估、可验证、可追踪、可复盘。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EF93AA-D076-4B05-A3CC-AA877A69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10248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9DE176-3010-40F8-939C-CEBE8158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1035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AI 时代研发协同与质量工程平台建设方案 | CTO Review Draft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F485AC-8522-4547-AEFE-7E2DE8BE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61035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623349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2918CA-2B46-4DB7-BB39-6A290326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635F1B-0309-4D62-A847-D48A4BDD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053E2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0053E2"/>
                </a:solidFill>
                <a:latin typeface="Aptos Display"/>
                <a:ea typeface="Aptos Display"/>
                <a:cs typeface="Aptos Display"/>
              </a:rPr>
              <a:t>01 | 平台蓝图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339E75-4D6E-4024-B87D-589E157B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09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rPr>
              <a:t>从流程、工具、协同三条主线搭建研发协同平台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8B81A2-ACDD-41B4-9116-D0E78409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把 AI Coding、质量门禁、安全供应链、测试工具和发布治理纳入同一个工程作业流。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5AB8DD-07FD-4ECE-B0BB-B9741D48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219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57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9A010D-AAEA-4612-88E6-BD5F3D1D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24025"/>
            <a:ext cx="990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rPr>
              <a:t>需求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55597-ADA5-46ED-B81D-0F937761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AI 澄清</a:t>
            </a:r>
          </a:p>
          <a:p xmlns:a="http://schemas.openxmlformats.org/drawingml/2006/main">
            <a:pPr algn="ctr">
              <a:defRPr sz="705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验收标准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974BF1-D223-41B9-B518-8CEF9E12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981200"/>
            <a:ext cx="2476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2FFABF-ECD5-447D-8AF1-FF2134F1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562100"/>
            <a:ext cx="1219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6F7F8"/>
          </a:solidFill>
          <a:ln xmlns:a="http://schemas.openxmlformats.org/drawingml/2006/main" w="9525">
            <a:solidFill>
              <a:srgbClr val="007C8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D51650-989B-48FB-A833-D5DFDCAB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24025"/>
            <a:ext cx="990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007C89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007C89"/>
                </a:solidFill>
                <a:latin typeface="Aptos Display"/>
                <a:ea typeface="Aptos Display"/>
                <a:cs typeface="Aptos Display"/>
              </a:rPr>
              <a:t>设计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17A45C-8461-4567-8172-EC7913FD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952625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方案评审</a:t>
            </a:r>
          </a:p>
          <a:p xmlns:a="http://schemas.openxmlformats.org/drawingml/2006/main">
            <a:pPr algn="ctr">
              <a:defRPr sz="705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风险识别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C0D1AE-CBFB-46CD-9D8D-AE6A094B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81200"/>
            <a:ext cx="2476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D31588-C0AF-459E-9048-839A14CF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562100"/>
            <a:ext cx="1219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1EAFE"/>
          </a:solidFill>
          <a:ln xmlns:a="http://schemas.openxmlformats.org/drawingml/2006/main" w="9525">
            <a:solidFill>
              <a:srgbClr val="6E3CB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8D5BD6-107E-4ABA-B19E-349A7615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724025"/>
            <a:ext cx="990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6E3CB4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6E3CB4"/>
                </a:solidFill>
                <a:latin typeface="Aptos Display"/>
                <a:ea typeface="Aptos Display"/>
                <a:cs typeface="Aptos Display"/>
              </a:rPr>
              <a:t>编码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777B7C-49EF-43AA-B946-272D9BB2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952625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AI Coding</a:t>
            </a:r>
          </a:p>
          <a:p xmlns:a="http://schemas.openxmlformats.org/drawingml/2006/main">
            <a:pPr algn="ctr">
              <a:defRPr sz="705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规范自检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400C39-5306-4FB4-AE3A-1D0D505E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981200"/>
            <a:ext cx="2476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23ED66-8A9A-4332-AE68-009CD132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562100"/>
            <a:ext cx="1219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263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08D1FF-84EB-49A8-A375-C8D10DE5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24025"/>
            <a:ext cx="990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B26300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B26300"/>
                </a:solidFill>
                <a:latin typeface="Aptos Display"/>
                <a:ea typeface="Aptos Display"/>
                <a:cs typeface="Aptos Display"/>
              </a:rPr>
              <a:t>PR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3AC0D4-C027-40C9-AE97-42295435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52625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Diff 分析</a:t>
            </a:r>
          </a:p>
          <a:p xmlns:a="http://schemas.openxmlformats.org/drawingml/2006/main">
            <a:pPr algn="ctr">
              <a:defRPr sz="705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门禁触发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4DDACB-3D6D-44D9-8CE2-82CC962F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81200"/>
            <a:ext cx="2476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17C6E7-C43C-45B1-8523-845FF7C4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62100"/>
            <a:ext cx="1219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147A5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0A71BC-448A-49CE-BC33-A5F4E9F5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724025"/>
            <a:ext cx="990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147A52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7A52"/>
                </a:solidFill>
                <a:latin typeface="Aptos Display"/>
                <a:ea typeface="Aptos Display"/>
                <a:cs typeface="Aptos Display"/>
              </a:rPr>
              <a:t>验证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2ED8C6-C12D-42ED-B350-9E0949E2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52625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自动测试</a:t>
            </a:r>
          </a:p>
          <a:p xmlns:a="http://schemas.openxmlformats.org/drawingml/2006/main">
            <a:pPr algn="ctr">
              <a:defRPr sz="705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性能混沌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030935-1804-485B-BFE9-5954F57F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81200"/>
            <a:ext cx="2476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8546F6-EECE-4985-A262-79277C5B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62100"/>
            <a:ext cx="1219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0525D4-C9BF-4C9B-B282-65956612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24025"/>
            <a:ext cx="990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rPr>
              <a:t>UAT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AB9C1C-88B0-4C4C-8636-F65510C3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52625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业务验收</a:t>
            </a:r>
          </a:p>
          <a:p xmlns:a="http://schemas.openxmlformats.org/drawingml/2006/main">
            <a:pPr algn="ctr">
              <a:defRPr sz="705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规则确认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42A0E4-B5AD-4BB7-A6E0-3A1C81DB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81200"/>
            <a:ext cx="2476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D8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537004-EB8C-480E-A2DD-927CB8C7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562100"/>
            <a:ext cx="1219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485558-8A16-44E0-AE13-FEE22F9D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724025"/>
            <a:ext cx="990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344054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344054"/>
                </a:solidFill>
                <a:latin typeface="Aptos Display"/>
                <a:ea typeface="Aptos Display"/>
                <a:cs typeface="Aptos Display"/>
              </a:rPr>
              <a:t>发布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49FE99-09EB-4B5A-ABC5-2B142F30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52625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灰度监控</a:t>
            </a:r>
          </a:p>
          <a:p xmlns:a="http://schemas.openxmlformats.org/drawingml/2006/main">
            <a:pPr algn="ctr">
              <a:defRPr sz="705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复盘沉淀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EE8526-66DC-4922-87E4-6910AA64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4762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57B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CA33CC-1E84-420F-83B9-9E0512D7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rPr>
              <a:t>流程编排层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FB0B58-B79B-487F-A832-58090F76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76575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统一研发作业流：阶段、责任人、输入输出、准入准出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D89A3D-2FB0-4CAB-9586-71644DCE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952750"/>
            <a:ext cx="4762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EAFE"/>
          </a:solidFill>
          <a:ln xmlns:a="http://schemas.openxmlformats.org/drawingml/2006/main" w="9525">
            <a:solidFill>
              <a:srgbClr val="6E3CB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D69B68-B6D3-4DE7-94BE-1D5A5E1B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765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6E3CB4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6E3CB4"/>
                </a:solidFill>
                <a:latin typeface="Aptos Display"/>
                <a:ea typeface="Aptos Display"/>
                <a:cs typeface="Aptos Display"/>
              </a:rPr>
              <a:t>AI 协同助手层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8BBD3E-8FD1-4EEF-89F1-5013B96E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76575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需求 Agent / 方案 Agent / PR Agent / 测试 Agent / 复盘 Agent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EC38FC-E5E4-4BFF-B3D7-CB5B425B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71900"/>
            <a:ext cx="4762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147A5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37160B-9AAD-4C2F-A939-A14F1EC0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47A52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147A52"/>
                </a:solidFill>
                <a:latin typeface="Aptos Display"/>
                <a:ea typeface="Aptos Display"/>
                <a:cs typeface="Aptos Display"/>
              </a:rPr>
              <a:t>工具集成层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E460FCC-FB7C-44BE-B2E8-C7EA926D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95725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数据银行、自动化、性能、混沌、Sonar、覆盖率、CI/CD、监控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881165-9BBB-4B63-8D37-C72D5FD5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71900"/>
            <a:ext cx="4762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2630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457CBBE-D630-4141-89B2-26D12807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957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B26300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B26300"/>
                </a:solidFill>
                <a:latin typeface="Aptos Display"/>
                <a:ea typeface="Aptos Display"/>
                <a:cs typeface="Aptos Display"/>
              </a:rPr>
              <a:t>质量风险治理层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E5C0EA4-244B-482A-B5D1-0191B94B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95725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按业务链路与代码影响面分级，自动决定门禁强度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0E1D3E7-F0CD-4202-B698-02E43457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91050"/>
            <a:ext cx="4762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6F7F8"/>
          </a:solidFill>
          <a:ln xmlns:a="http://schemas.openxmlformats.org/drawingml/2006/main" w="9525">
            <a:solidFill>
              <a:srgbClr val="007C8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1CC6EA-95D3-4C00-8685-2D40F51F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007C89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007C89"/>
                </a:solidFill>
                <a:latin typeface="Aptos Display"/>
                <a:ea typeface="Aptos Display"/>
                <a:cs typeface="Aptos Display"/>
              </a:rPr>
              <a:t>知识资产层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D752541-EABB-416F-AB8C-B4F51111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14875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业务规则、历史缺陷、链路画像、测试资产、发布复盘持续沉淀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3ACEE5-C711-4C09-ACEF-18FB47EA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91050"/>
            <a:ext cx="4762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CF0B919-E933-46C6-804D-48078E32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148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rPr>
              <a:t>研发经营层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4EEE8AB-3C72-479F-B528-61A5818B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14875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效率、质量、稳定性、成本、AI 代码风险统一看板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F2CA9B4-061C-4D52-97A1-1830B00A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1009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13F"/>
          </a:solidFill>
          <a:ln xmlns:a="http://schemas.openxmlformats.org/drawingml/2006/main" w="9525">
            <a:solidFill>
              <a:srgbClr val="10213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017D1A8-817B-4C9A-B163-D1EA8292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53100"/>
            <a:ext cx="10668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FC220"/>
          </a:solidFill>
          <a:ln xmlns:a="http://schemas.openxmlformats.org/drawingml/2006/main" w="9525">
            <a:solidFill>
              <a:srgbClr val="FFC22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1CC383C-94DF-4A71-A0B6-82BA72B9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9775"/>
            <a:ext cx="914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defRPr>
            </a:pPr>
            <a:r>
              <a:rPr sz="720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rPr>
              <a:t>平台原则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4564B1B-AFD6-4B55-878A-3838EED2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71500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6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所有变更都要回答四个问题：影响什么链路、风险等级多高、需要哪些验证证据、是否满足发布决策。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30C0836-98DA-4209-829F-2C617828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962650"/>
            <a:ext cx="809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D7E3F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D7E3F5"/>
                </a:solidFill>
                <a:latin typeface="Aptos"/>
                <a:ea typeface="Aptos"/>
                <a:cs typeface="Aptos"/>
              </a:rPr>
              <a:t>安全与供应链作为横向治理能力贯穿每个阶段，不再作为单独阶段割裂处理。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A76E5A0-51C3-4727-9711-7D7EB168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10248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5A3A64F-8A04-4395-8F29-15E10891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1035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AI 时代研发协同与质量工程平台建设方案 | CTO Review Draft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D7DFABD-2D9E-4F54-AB72-63E05230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61035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51543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9AD8F4-4F31-42A0-9665-A1218D5F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EA650-9F1B-4346-A630-6B4F117F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053E2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0053E2"/>
                </a:solidFill>
                <a:latin typeface="Aptos Display"/>
                <a:ea typeface="Aptos Display"/>
                <a:cs typeface="Aptos Display"/>
              </a:rPr>
              <a:t>02 | 端到端落地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88BC82-8ACF-4E0B-BA3A-C87BA8FC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09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rPr>
              <a:t>沃尔玛订单交易核心链路：研发协同平台如何工作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279FF5-4C2B-41B7-B6CF-412ABBF6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以全场券 + 商品券、库存锁定、支付前金额一致性为例，展示一个高风险 AI 代码变更如何被跨团队协同治理。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21E613-D3C7-4770-825D-36C847F8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1219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53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E890CB-087F-497D-9866-31ACF1E8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990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0053E2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0053E2"/>
                </a:solidFill>
                <a:latin typeface="Aptos Display"/>
                <a:ea typeface="Aptos Display"/>
                <a:cs typeface="Aptos Display"/>
              </a:rPr>
              <a:t>需求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B4EDF5-E406-4B8E-8EFC-51F1F717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990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优惠规则变更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86D2B1-37AC-4195-9387-397DBC02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866900"/>
            <a:ext cx="2476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C79435-0CC8-49C5-B6F8-32C29A95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524000"/>
            <a:ext cx="1219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53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026A52-ACA2-4C13-A348-AC13C65B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676400"/>
            <a:ext cx="990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0053E2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0053E2"/>
                </a:solidFill>
                <a:latin typeface="Aptos Display"/>
                <a:ea typeface="Aptos Display"/>
                <a:cs typeface="Aptos Display"/>
              </a:rPr>
              <a:t>设计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1FDE01-2BED-4E28-BDF1-04ECA3DB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943100"/>
            <a:ext cx="990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影响订单链路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53C237-B895-42AC-9873-68927DB0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66900"/>
            <a:ext cx="2476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2BFCEF-6833-4FE9-8D39-6F88F191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524000"/>
            <a:ext cx="1219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53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76935F-BA0E-4165-B2E5-A1CBF058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676400"/>
            <a:ext cx="990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0053E2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0053E2"/>
                </a:solidFill>
                <a:latin typeface="Aptos Display"/>
                <a:ea typeface="Aptos Display"/>
                <a:cs typeface="Aptos Display"/>
              </a:rPr>
              <a:t>AI 编码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5407B1-87F5-4904-B308-EBBC1623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43100"/>
            <a:ext cx="990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生成实现与单测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1146F6-A898-4660-91F9-BAD52CBE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866900"/>
            <a:ext cx="2476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E679CE-8C29-449A-8D45-179F2417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524000"/>
            <a:ext cx="1219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53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1189FB-8BB0-4D79-98F4-50F835A8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676400"/>
            <a:ext cx="990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0053E2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0053E2"/>
                </a:solidFill>
                <a:latin typeface="Aptos Display"/>
                <a:ea typeface="Aptos Display"/>
                <a:cs typeface="Aptos Display"/>
              </a:rPr>
              <a:t>PR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197A5A-D6DB-470C-94AA-9FF64EE2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943100"/>
            <a:ext cx="990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风险评分加严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AD1460-92E8-4233-8694-D9D20255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66900"/>
            <a:ext cx="2476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A18178-6D64-4009-82B9-0CAA01F8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24000"/>
            <a:ext cx="1219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53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7D15E6-726F-495F-97AD-FAB09F7F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76400"/>
            <a:ext cx="990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0053E2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0053E2"/>
                </a:solidFill>
                <a:latin typeface="Aptos Display"/>
                <a:ea typeface="Aptos Display"/>
                <a:cs typeface="Aptos Display"/>
              </a:rPr>
              <a:t>验证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1DCA4D-64B8-412C-B71B-B03228A5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43100"/>
            <a:ext cx="990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自动回归/性能/混沌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70F02D-F581-452A-B965-94C67CB1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66900"/>
            <a:ext cx="2476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8A2DDE-12A1-44D2-A593-1F0AD7A8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24000"/>
            <a:ext cx="1219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53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2AB5A5-9998-4F48-9D8F-1E7EA0DE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76400"/>
            <a:ext cx="990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0053E2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0053E2"/>
                </a:solidFill>
                <a:latin typeface="Aptos Display"/>
                <a:ea typeface="Aptos Display"/>
                <a:cs typeface="Aptos Display"/>
              </a:rPr>
              <a:t>UAT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301683-D000-454B-A493-6EFBC6C2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43100"/>
            <a:ext cx="990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业务验收金额规则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A77150-FABD-4952-AD79-14010123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866900"/>
            <a:ext cx="2476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D8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BF6DBE-1F7D-4E83-9C70-28EA1894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524000"/>
            <a:ext cx="1219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53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D48AE6-5D35-407B-B0E2-9077EA52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676400"/>
            <a:ext cx="990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0053E2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0053E2"/>
                </a:solidFill>
                <a:latin typeface="Aptos Display"/>
                <a:ea typeface="Aptos Display"/>
                <a:cs typeface="Aptos Display"/>
              </a:rPr>
              <a:t>发布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6BCD52-1B0F-48F2-8A54-8BE024BD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943100"/>
            <a:ext cx="990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灰度监控与复盘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50B1FD-EC72-4075-A6BD-88DAB67F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86050"/>
            <a:ext cx="3219450" cy="255270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8D944C-149F-4E68-88EA-571A7940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86050"/>
            <a:ext cx="47625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FCB6F3-1829-4C07-B523-6D9A4432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2876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defRPr>
            </a:pPr>
            <a:r>
              <a:rPr sz="1080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rPr>
              <a:t>跨团队协同动作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431AB2-B606-4F70-A684-7D5ADDA2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• 产品/业务：沉淀全场券、商品券叠加规则与验收口径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1ABA1B-DF5E-4BFE-AAE2-E967D468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• 研发：提交方案、AI 代码、单测与影响链路说明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9277C2-9F7D-41F7-8287-8F9A19F9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• QA：编排数据、自动化、性能、混沌与 UAT 证据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29FB68-A323-4031-B4B3-EA46D308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• 发布负责人：基于门禁结果决定灰度、回滚与监控策略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F01426-4B35-4413-BE5F-A497F318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686050"/>
            <a:ext cx="3219450" cy="255270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2FFDC5-A690-4E27-BE6B-66CC51DF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686050"/>
            <a:ext cx="47625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3C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A3E756-914D-445E-ACC9-6CC5FC1A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19400"/>
            <a:ext cx="2876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6E3CB4"/>
                </a:solidFill>
                <a:latin typeface="Aptos Display"/>
                <a:ea typeface="Aptos Display"/>
                <a:cs typeface="Aptos Display"/>
              </a:defRPr>
            </a:pPr>
            <a:r>
              <a:rPr sz="1080" b="1">
                <a:solidFill>
                  <a:srgbClr val="6E3CB4"/>
                </a:solidFill>
                <a:latin typeface="Aptos Display"/>
                <a:ea typeface="Aptos Display"/>
                <a:cs typeface="Aptos Display"/>
              </a:rPr>
              <a:t>平台自动编排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0326F92-35F5-42A3-924C-69C72C4E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2420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• 需求 Agent 抽取金额、库存、支付前校验规则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5E23473-5F9D-426F-8EBB-C856A283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6710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• PR Agent 根据 Diff 标记核心交易高风险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9221EF0-2EF0-4C9C-926B-CBD960A5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1000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• 数据银行准备券、库存、支付异常和边界数据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B6B83AD-4F7D-45E4-B189-0C4BA41A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5290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• 自动化平台选择优惠组合、库存并发、支付回滚集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DFA3622-168B-4CDC-B30C-62B3FE7F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9580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• 监控平台绑定核心接口 P95/P99 与业务异常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36B6A70-C210-40F8-A8AF-E3F5C142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3219450" cy="255270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C6A4E18-0116-419C-8BEB-876828E6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47625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7198213-4A71-4FB6-BA51-5C766DC6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19400"/>
            <a:ext cx="2876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147A52"/>
                </a:solidFill>
                <a:latin typeface="Aptos Display"/>
                <a:ea typeface="Aptos Display"/>
                <a:cs typeface="Aptos Display"/>
              </a:defRPr>
            </a:pPr>
            <a:r>
              <a:rPr sz="1080" b="1">
                <a:solidFill>
                  <a:srgbClr val="147A52"/>
                </a:solidFill>
                <a:latin typeface="Aptos Display"/>
                <a:ea typeface="Aptos Display"/>
                <a:cs typeface="Aptos Display"/>
              </a:rPr>
              <a:t>统一放行证据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7FEB20A-6E3F-44B4-883A-AAF3AB0B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2420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• 代码：Sonar 无阻断，单测覆盖率不下降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25EDC5-85DB-4DCD-9BF4-99709EF4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2425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• 接口：自动化通过，关键接口响应时长未劣化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1B6F606-007D-4237-88BA-18E91704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2430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• 业务：优惠金额、库存状态、支付金额一致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519701F-4794-417D-B92E-5C0DBA22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32435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• 发布：灰度、告警、回滚预案与复盘任务就绪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79DA5FA-1348-41D8-BCDF-7FD25BFD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86400"/>
            <a:ext cx="10191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2E83F96-DD33-4939-839B-8268898A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rPr>
              <a:t>Lead Time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BD631D1-8B32-4665-8744-B1908CBC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352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defRPr>
            </a:pPr>
            <a:r>
              <a:rPr sz="705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rPr>
              <a:t>需求到上线周期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7D1771A-EB62-4DA9-92D3-FCCE6668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63880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rPr>
              <a:t>AI CFR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5B497E8-F46A-4BD6-B5DE-A0240C5D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962650"/>
            <a:ext cx="1352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defRPr>
            </a:pPr>
            <a:r>
              <a:rPr sz="705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rPr>
              <a:t>AI 变更失败率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E4F590A-1FA8-4ED1-8059-E18AC32F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63880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2630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B26300"/>
                </a:solidFill>
                <a:latin typeface="Aptos Display"/>
                <a:ea typeface="Aptos Display"/>
                <a:cs typeface="Aptos Display"/>
              </a:rPr>
              <a:t>Escape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B7857F9-FCD2-4AF2-9977-78D7E660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962650"/>
            <a:ext cx="1352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defRPr>
            </a:pPr>
            <a:r>
              <a:rPr sz="705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rPr>
              <a:t>缺陷逃逸率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DFE0A5D-B3E4-4154-A8D3-F53A7535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63880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E3CB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6E3CB4"/>
                </a:solidFill>
                <a:latin typeface="Aptos Display"/>
                <a:ea typeface="Aptos Display"/>
                <a:cs typeface="Aptos Display"/>
              </a:rPr>
              <a:t>Gate Hit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450CAA0-6BCF-4537-A6DB-D143B9C3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962650"/>
            <a:ext cx="1352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defRPr>
            </a:pPr>
            <a:r>
              <a:rPr sz="705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rPr>
              <a:t>高风险阻断率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95A12A0-7E0C-4642-9E7B-15DE3FD3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63880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7A52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47A52"/>
                </a:solidFill>
                <a:latin typeface="Aptos Display"/>
                <a:ea typeface="Aptos Display"/>
                <a:cs typeface="Aptos Display"/>
              </a:rPr>
              <a:t>P95/P99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60A91DD-BD7C-41F4-A48B-B0A250C3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962650"/>
            <a:ext cx="1352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defRPr>
            </a:pPr>
            <a:r>
              <a:rPr sz="705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rPr>
              <a:t>核心链路时延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4D4E38F-18A6-46A3-A9CF-9214D17C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715000"/>
            <a:ext cx="11049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FC220"/>
          </a:solidFill>
          <a:ln xmlns:a="http://schemas.openxmlformats.org/drawingml/2006/main" w="9525">
            <a:solidFill>
              <a:srgbClr val="FFC22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A7B5678-7AFC-4519-9824-FA4E332D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781675"/>
            <a:ext cx="9525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defRPr>
            </a:pPr>
            <a:r>
              <a:rPr sz="720" b="1">
                <a:solidFill>
                  <a:srgbClr val="152033"/>
                </a:solidFill>
                <a:latin typeface="Aptos Display"/>
                <a:ea typeface="Aptos Display"/>
                <a:cs typeface="Aptos Display"/>
              </a:rPr>
              <a:t>研发 cockpit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742D862-4D58-487F-83B6-A1ABF7D7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019800"/>
            <a:ext cx="1314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效率、质量、稳定性同屏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89ADCE7-56F5-4AB3-81CB-D5CB247D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10248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F417518-46E0-42CE-B256-7BF30346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1035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AI 时代研发协同与质量工程平台建设方案 | CTO Review Draft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45AE67D-3F23-45F1-A298-E34EAFC3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61035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937374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2026-06-11T06:52:18.0520000Z</dcterms:created>
  <dcterms:modified xsi:type="dcterms:W3CDTF">2026-06-11T06:52:18.0520000Z</dcterms:modified>
</coreProperties>
</file>